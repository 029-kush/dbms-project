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9692640" y="-1005840"/>
            <a:ext cx="3840480" cy="3840480"/>
          </a:xfrm>
          <a:prstGeom prst="ellipse">
            <a:avLst/>
          </a:prstGeom>
          <a:solidFill>
            <a:srgbClr val="028090">
              <a:alpha val="60000"/>
            </a:srgbClr>
          </a:solidFill>
          <a:ln/>
        </p:spPr>
      </p:sp>
      <p:sp>
        <p:nvSpPr>
          <p:cNvPr id="3" name="Shape 1"/>
          <p:cNvSpPr/>
          <p:nvPr/>
        </p:nvSpPr>
        <p:spPr>
          <a:xfrm>
            <a:off x="10698480" y="274320"/>
            <a:ext cx="1828800" cy="1828800"/>
          </a:xfrm>
          <a:prstGeom prst="ellipse">
            <a:avLst/>
          </a:prstGeom>
          <a:solidFill>
            <a:srgbClr val="02C39A">
              <a:alpha val="75000"/>
            </a:srgbClr>
          </a:solidFill>
          <a:ln/>
        </p:spPr>
      </p:sp>
      <p:sp>
        <p:nvSpPr>
          <p:cNvPr id="4" name="Shape 2"/>
          <p:cNvSpPr/>
          <p:nvPr/>
        </p:nvSpPr>
        <p:spPr>
          <a:xfrm>
            <a:off x="10378440" y="685800"/>
            <a:ext cx="1051560" cy="1051560"/>
          </a:xfrm>
          <a:prstGeom prst="ellipse">
            <a:avLst/>
          </a:prstGeom>
          <a:solidFill>
            <a:srgbClr val="00A896"/>
          </a:solidFill>
          <a:ln/>
        </p:spPr>
      </p:sp>
      <p:pic>
        <p:nvPicPr>
          <p:cNvPr id="5" name="Image 0" descr="/home/claude/pitch_deck/icons/lightbulb.png">    </p:cNvPr>
          <p:cNvPicPr>
            <a:picLocks noChangeAspect="1"/>
          </p:cNvPicPr>
          <p:nvPr/>
        </p:nvPicPr>
        <p:blipFill>
          <a:blip r:embed="rId1"/>
          <a:stretch>
            <a:fillRect/>
          </a:stretch>
        </p:blipFill>
        <p:spPr>
          <a:xfrm>
            <a:off x="10504627" y="811987"/>
            <a:ext cx="799186" cy="799186"/>
          </a:xfrm>
          <a:prstGeom prst="rect">
            <a:avLst/>
          </a:prstGeom>
        </p:spPr>
      </p:pic>
      <p:sp>
        <p:nvSpPr>
          <p:cNvPr id="6" name="Text 3"/>
          <p:cNvSpPr/>
          <p:nvPr/>
        </p:nvSpPr>
        <p:spPr>
          <a:xfrm>
            <a:off x="640080" y="1417320"/>
            <a:ext cx="8229600" cy="365760"/>
          </a:xfrm>
          <a:prstGeom prst="rect">
            <a:avLst/>
          </a:prstGeom>
          <a:noFill/>
          <a:ln/>
        </p:spPr>
        <p:txBody>
          <a:bodyPr wrap="square" lIns="0" tIns="0" rIns="0" bIns="0" rtlCol="0" anchor="ctr"/>
          <a:lstStyle/>
          <a:p>
            <a:pPr algn="l" indent="0" marL="0">
              <a:buNone/>
            </a:pPr>
            <a:r>
              <a:rPr lang="en-US" sz="1500" spc="100" kern="0" dirty="0">
                <a:solidFill>
                  <a:srgbClr val="02C39A"/>
                </a:solidFill>
                <a:latin typeface="Calibri" pitchFamily="34" charset="0"/>
                <a:ea typeface="Calibri" pitchFamily="34" charset="-122"/>
                <a:cs typeface="Calibri" pitchFamily="34" charset="-120"/>
              </a:rPr>
              <a:t>THE PITCH</a:t>
            </a:r>
            <a:endParaRPr lang="en-US" sz="1500" dirty="0"/>
          </a:p>
        </p:txBody>
      </p:sp>
      <p:sp>
        <p:nvSpPr>
          <p:cNvPr id="7" name="Text 4"/>
          <p:cNvSpPr/>
          <p:nvPr/>
        </p:nvSpPr>
        <p:spPr>
          <a:xfrm>
            <a:off x="640080" y="1874520"/>
            <a:ext cx="1005840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Self-Healing Vector Databases</a:t>
            </a:r>
            <a:endParaRPr lang="en-US" sz="4000" dirty="0"/>
          </a:p>
        </p:txBody>
      </p:sp>
      <p:sp>
        <p:nvSpPr>
          <p:cNvPr id="8" name="Text 5"/>
          <p:cNvSpPr/>
          <p:nvPr/>
        </p:nvSpPr>
        <p:spPr>
          <a:xfrm>
            <a:off x="640080" y="2971800"/>
            <a:ext cx="9875520" cy="731520"/>
          </a:xfrm>
          <a:prstGeom prst="rect">
            <a:avLst/>
          </a:prstGeom>
          <a:noFill/>
          <a:ln/>
        </p:spPr>
        <p:txBody>
          <a:bodyPr wrap="square" lIns="0" tIns="0" rIns="0" bIns="0" rtlCol="0" anchor="ctr"/>
          <a:lstStyle/>
          <a:p>
            <a:pPr indent="0" marL="0">
              <a:buNone/>
            </a:pPr>
            <a:r>
              <a:rPr lang="en-US" sz="1800" i="1" dirty="0">
                <a:solidFill>
                  <a:srgbClr val="D7F4EF"/>
                </a:solidFill>
                <a:latin typeface="Calibri" pitchFamily="34" charset="0"/>
                <a:ea typeface="Calibri" pitchFamily="34" charset="-122"/>
                <a:cs typeface="Calibri" pitchFamily="34" charset="-120"/>
              </a:rPr>
              <a:t>A database that notices it's sick, diagnoses itself, and heals — without a full rebuild.</a:t>
            </a:r>
            <a:endParaRPr lang="en-US" sz="1800" dirty="0"/>
          </a:p>
        </p:txBody>
      </p:sp>
      <p:sp>
        <p:nvSpPr>
          <p:cNvPr id="9" name="Shape 6"/>
          <p:cNvSpPr/>
          <p:nvPr/>
        </p:nvSpPr>
        <p:spPr>
          <a:xfrm>
            <a:off x="640080" y="4206240"/>
            <a:ext cx="5852160" cy="1600200"/>
          </a:xfrm>
          <a:prstGeom prst="rect">
            <a:avLst>
              <a:gd name="adj" fmla="val 6857"/>
            </a:avLst>
          </a:prstGeom>
          <a:solidFill>
            <a:srgbClr val="028090">
              <a:alpha val="22000"/>
            </a:srgbClr>
          </a:solidFill>
          <a:ln/>
        </p:spPr>
      </p:sp>
      <p:sp>
        <p:nvSpPr>
          <p:cNvPr id="10" name="Text 7"/>
          <p:cNvSpPr/>
          <p:nvPr/>
        </p:nvSpPr>
        <p:spPr>
          <a:xfrm>
            <a:off x="914400" y="4370832"/>
            <a:ext cx="2743200" cy="3200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Team</a:t>
            </a:r>
            <a:endParaRPr lang="en-US" sz="1300" dirty="0"/>
          </a:p>
        </p:txBody>
      </p:sp>
      <p:sp>
        <p:nvSpPr>
          <p:cNvPr id="11" name="Text 8"/>
          <p:cNvSpPr/>
          <p:nvPr/>
        </p:nvSpPr>
        <p:spPr>
          <a:xfrm>
            <a:off x="914400" y="4663440"/>
            <a:ext cx="5303520" cy="82296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Kush Gupta</a:t>
            </a:r>
            <a:endParaRPr lang="en-US" sz="1800" dirty="0"/>
          </a:p>
          <a:p>
            <a:pPr algn="l" indent="0" marL="0">
              <a:buNone/>
            </a:pPr>
            <a:r>
              <a:rPr lang="en-US" sz="1800" b="1" dirty="0">
                <a:solidFill>
                  <a:srgbClr val="FFFFFF"/>
                </a:solidFill>
                <a:latin typeface="Calibri" pitchFamily="34" charset="0"/>
                <a:ea typeface="Calibri" pitchFamily="34" charset="-122"/>
                <a:cs typeface="Calibri" pitchFamily="34" charset="-120"/>
              </a:rPr>
              <a:t>Arnav Tiwari</a:t>
            </a:r>
            <a:endParaRPr lang="en-US" sz="1800" dirty="0"/>
          </a:p>
        </p:txBody>
      </p:sp>
      <p:sp>
        <p:nvSpPr>
          <p:cNvPr id="12" name="Shape 9"/>
          <p:cNvSpPr/>
          <p:nvPr/>
        </p:nvSpPr>
        <p:spPr>
          <a:xfrm>
            <a:off x="6675120" y="4206240"/>
            <a:ext cx="4846320" cy="1600200"/>
          </a:xfrm>
          <a:prstGeom prst="rect">
            <a:avLst>
              <a:gd name="adj" fmla="val 6857"/>
            </a:avLst>
          </a:prstGeom>
          <a:solidFill>
            <a:srgbClr val="00A896">
              <a:alpha val="22000"/>
            </a:srgbClr>
          </a:solidFill>
          <a:ln/>
        </p:spPr>
      </p:sp>
      <p:sp>
        <p:nvSpPr>
          <p:cNvPr id="13" name="Text 10"/>
          <p:cNvSpPr/>
          <p:nvPr/>
        </p:nvSpPr>
        <p:spPr>
          <a:xfrm>
            <a:off x="6949440" y="4352544"/>
            <a:ext cx="2743200" cy="292608"/>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Subject</a:t>
            </a:r>
            <a:endParaRPr lang="en-US" sz="1300" dirty="0"/>
          </a:p>
        </p:txBody>
      </p:sp>
      <p:sp>
        <p:nvSpPr>
          <p:cNvPr id="14" name="Text 11"/>
          <p:cNvSpPr/>
          <p:nvPr/>
        </p:nvSpPr>
        <p:spPr>
          <a:xfrm>
            <a:off x="6949440" y="4626864"/>
            <a:ext cx="44805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Database Systems — BCSE307L</a:t>
            </a:r>
            <a:endParaRPr lang="en-US" sz="1700" dirty="0"/>
          </a:p>
        </p:txBody>
      </p:sp>
      <p:sp>
        <p:nvSpPr>
          <p:cNvPr id="15" name="Text 12"/>
          <p:cNvSpPr/>
          <p:nvPr/>
        </p:nvSpPr>
        <p:spPr>
          <a:xfrm>
            <a:off x="6949440" y="5029200"/>
            <a:ext cx="4297680" cy="320040"/>
          </a:xfrm>
          <a:prstGeom prst="rect">
            <a:avLst/>
          </a:prstGeom>
          <a:noFill/>
          <a:ln/>
        </p:spPr>
        <p:txBody>
          <a:bodyPr wrap="square" lIns="0" tIns="0" rIns="0" bIns="0" rtlCol="0" anchor="ctr"/>
          <a:lstStyle/>
          <a:p>
            <a:pPr indent="0" marL="0">
              <a:buNone/>
            </a:pPr>
            <a:r>
              <a:rPr lang="en-US" sz="1400" dirty="0">
                <a:solidFill>
                  <a:srgbClr val="C9DEDA"/>
                </a:solidFill>
                <a:latin typeface="Calibri" pitchFamily="34" charset="0"/>
                <a:ea typeface="Calibri" pitchFamily="34" charset="-122"/>
                <a:cs typeface="Calibri" pitchFamily="34" charset="-120"/>
              </a:rPr>
              <a:t>Faculty: Dr. Deepika J</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1280160" y="914400"/>
            <a:ext cx="73152" cy="4937760"/>
          </a:xfrm>
          <a:prstGeom prst="rect">
            <a:avLst/>
          </a:prstGeom>
          <a:solidFill>
            <a:srgbClr val="02C39A"/>
          </a:solidFill>
          <a:ln/>
        </p:spPr>
      </p:sp>
      <p:sp>
        <p:nvSpPr>
          <p:cNvPr id="3" name="Text 1"/>
          <p:cNvSpPr/>
          <p:nvPr/>
        </p:nvSpPr>
        <p:spPr>
          <a:xfrm>
            <a:off x="1645920" y="1097280"/>
            <a:ext cx="9144000" cy="365760"/>
          </a:xfrm>
          <a:prstGeom prst="rect">
            <a:avLst/>
          </a:prstGeom>
          <a:noFill/>
          <a:ln/>
        </p:spPr>
        <p:txBody>
          <a:bodyPr wrap="square" lIns="0" tIns="0" rIns="0" bIns="0" rtlCol="0" anchor="ctr"/>
          <a:lstStyle/>
          <a:p>
            <a:pPr indent="0" marL="0">
              <a:buNone/>
            </a:pPr>
            <a:r>
              <a:rPr lang="en-US" sz="1400" b="1" spc="150" kern="0" dirty="0">
                <a:solidFill>
                  <a:srgbClr val="02C39A"/>
                </a:solidFill>
                <a:latin typeface="Calibri" pitchFamily="34" charset="0"/>
                <a:ea typeface="Calibri" pitchFamily="34" charset="-122"/>
                <a:cs typeface="Calibri" pitchFamily="34" charset="-120"/>
              </a:rPr>
              <a:t>THE ONE-LINE VERSION</a:t>
            </a:r>
            <a:endParaRPr lang="en-US" sz="1400" dirty="0"/>
          </a:p>
        </p:txBody>
      </p:sp>
      <p:sp>
        <p:nvSpPr>
          <p:cNvPr id="4" name="Text 2"/>
          <p:cNvSpPr/>
          <p:nvPr/>
        </p:nvSpPr>
        <p:spPr>
          <a:xfrm>
            <a:off x="1645920" y="1737360"/>
            <a:ext cx="9692640" cy="3291840"/>
          </a:xfrm>
          <a:prstGeom prst="rect">
            <a:avLst/>
          </a:prstGeom>
          <a:noFill/>
          <a:ln/>
        </p:spPr>
        <p:txBody>
          <a:bodyPr wrap="square" lIns="0" tIns="0" rIns="0" bIns="0" rtlCol="0" anchor="ctr"/>
          <a:lstStyle/>
          <a:p>
            <a:pPr indent="0" marL="0">
              <a:lnSpc>
                <a:spcPct val="135000"/>
              </a:lnSpc>
              <a:buNone/>
            </a:pPr>
            <a:r>
              <a:rPr lang="en-US" sz="2600" dirty="0">
                <a:solidFill>
                  <a:srgbClr val="FFFFFF"/>
                </a:solidFill>
                <a:latin typeface="Cambria" pitchFamily="34" charset="0"/>
                <a:ea typeface="Cambria" pitchFamily="34" charset="-122"/>
                <a:cs typeface="Cambria" pitchFamily="34" charset="-120"/>
              </a:rPr>
              <a:t>We built a database that notices when its own search results start getting worse, figures out why on its own, fixes only the broken part, and checks its own work before trusting the fix — instead of a human noticing weeks later and rebuilding everything from scratch.</a:t>
            </a:r>
            <a:endParaRPr lang="en-US" sz="2600" dirty="0"/>
          </a:p>
        </p:txBody>
      </p:sp>
      <p:sp>
        <p:nvSpPr>
          <p:cNvPr id="5" name="Text 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6" name="Text 4"/>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D8552F"/>
          </a:solidFill>
          <a:ln/>
        </p:spPr>
      </p:sp>
      <p:pic>
        <p:nvPicPr>
          <p:cNvPr id="3" name="Image 0" descr="/home/claude/pitch_deck/icons/exchange.png">    </p:cNvPr>
          <p:cNvPicPr>
            <a:picLocks noChangeAspect="1"/>
          </p:cNvPicPr>
          <p:nvPr/>
        </p:nvPicPr>
        <p:blipFill>
          <a:blip r:embed="rId1"/>
          <a:stretch>
            <a:fillRect/>
          </a:stretch>
        </p:blipFill>
        <p:spPr>
          <a:xfrm>
            <a:off x="568757" y="431597"/>
            <a:ext cx="416966" cy="416966"/>
          </a:xfrm>
          <a:prstGeom prst="rect">
            <a:avLst/>
          </a:prstGeom>
        </p:spPr>
      </p:pic>
      <p:sp>
        <p:nvSpPr>
          <p:cNvPr id="4" name="Text 1"/>
          <p:cNvSpPr/>
          <p:nvPr/>
        </p:nvSpPr>
        <p:spPr>
          <a:xfrm>
            <a:off x="1234440" y="384048"/>
            <a:ext cx="9144000" cy="274320"/>
          </a:xfrm>
          <a:prstGeom prst="rect">
            <a:avLst/>
          </a:prstGeom>
          <a:noFill/>
          <a:ln/>
        </p:spPr>
        <p:txBody>
          <a:bodyPr wrap="square" lIns="0" tIns="0" rIns="0" bIns="0" rtlCol="0" anchor="ctr"/>
          <a:lstStyle/>
          <a:p>
            <a:pPr indent="0" marL="0">
              <a:buNone/>
            </a:pPr>
            <a:r>
              <a:rPr lang="en-US" sz="1200" dirty="0">
                <a:solidFill>
                  <a:srgbClr val="5B6B6B"/>
                </a:solidFill>
                <a:latin typeface="Calibri" pitchFamily="34" charset="0"/>
                <a:ea typeface="Calibri" pitchFamily="34" charset="-122"/>
                <a:cs typeface="Calibri" pitchFamily="34" charset="-120"/>
              </a:rPr>
              <a:t>The problem</a:t>
            </a:r>
            <a:endParaRPr lang="en-US" sz="1200" dirty="0"/>
          </a:p>
        </p:txBody>
      </p:sp>
      <p:sp>
        <p:nvSpPr>
          <p:cNvPr id="5" name="Text 2"/>
          <p:cNvSpPr/>
          <p:nvPr/>
        </p:nvSpPr>
        <p:spPr>
          <a:xfrm>
            <a:off x="1234440" y="621792"/>
            <a:ext cx="10241280" cy="548640"/>
          </a:xfrm>
          <a:prstGeom prst="rect">
            <a:avLst/>
          </a:prstGeom>
          <a:noFill/>
          <a:ln/>
        </p:spPr>
        <p:txBody>
          <a:bodyPr wrap="square" lIns="0" tIns="0" rIns="0" bIns="0" rtlCol="0" anchor="ctr"/>
          <a:lstStyle/>
          <a:p>
            <a:pPr indent="0" marL="0">
              <a:buNone/>
            </a:pPr>
            <a:r>
              <a:rPr lang="en-US" sz="2400" b="1" dirty="0">
                <a:solidFill>
                  <a:srgbClr val="1B2B2B"/>
                </a:solidFill>
                <a:latin typeface="Cambria" pitchFamily="34" charset="0"/>
                <a:ea typeface="Cambria" pitchFamily="34" charset="-122"/>
                <a:cs typeface="Cambria" pitchFamily="34" charset="-120"/>
              </a:rPr>
              <a:t>Two things quietly break “search by meaning”</a:t>
            </a:r>
            <a:endParaRPr lang="en-US" sz="2400" dirty="0"/>
          </a:p>
        </p:txBody>
      </p:sp>
      <p:sp>
        <p:nvSpPr>
          <p:cNvPr id="6" name="Text 3"/>
          <p:cNvSpPr/>
          <p:nvPr/>
        </p:nvSpPr>
        <p:spPr>
          <a:xfrm>
            <a:off x="640080" y="1371600"/>
            <a:ext cx="10881360" cy="685800"/>
          </a:xfrm>
          <a:prstGeom prst="rect">
            <a:avLst/>
          </a:prstGeom>
          <a:noFill/>
          <a:ln/>
        </p:spPr>
        <p:txBody>
          <a:bodyPr wrap="square" lIns="0" tIns="0" rIns="0" bIns="0" rtlCol="0" anchor="ctr"/>
          <a:lstStyle/>
          <a:p>
            <a:pPr indent="0" marL="0">
              <a:buNone/>
            </a:pPr>
            <a:r>
              <a:rPr lang="en-US" sz="1400" i="1" dirty="0">
                <a:solidFill>
                  <a:srgbClr val="5B6B6B"/>
                </a:solidFill>
                <a:latin typeface="Calibri" pitchFamily="34" charset="0"/>
                <a:ea typeface="Calibri" pitchFamily="34" charset="-122"/>
                <a:cs typeface="Calibri" pitchFamily="34" charset="-120"/>
              </a:rPr>
              <a:t>Apps that search by meaning — recommendations, AI chat over your documents, product matching — store data as long lists of numbers that represent meaning. Two things quietly wreck this over time, and almost nobody notices until it's bad.</a:t>
            </a:r>
            <a:endParaRPr lang="en-US" sz="1400" dirty="0"/>
          </a:p>
        </p:txBody>
      </p:sp>
      <p:sp>
        <p:nvSpPr>
          <p:cNvPr id="7" name="Shape 4"/>
          <p:cNvSpPr/>
          <p:nvPr/>
        </p:nvSpPr>
        <p:spPr>
          <a:xfrm>
            <a:off x="640080" y="2286000"/>
            <a:ext cx="5257800" cy="3794760"/>
          </a:xfrm>
          <a:prstGeom prst="roundRect">
            <a:avLst>
              <a:gd name="adj" fmla="val 2410"/>
            </a:avLst>
          </a:prstGeom>
          <a:solidFill>
            <a:srgbClr val="D8552F">
              <a:alpha val="10000"/>
            </a:srgbClr>
          </a:solidFill>
          <a:ln w="12700">
            <a:solidFill>
              <a:srgbClr val="D8552F"/>
            </a:solidFill>
            <a:prstDash val="solid"/>
          </a:ln>
        </p:spPr>
      </p:sp>
      <p:sp>
        <p:nvSpPr>
          <p:cNvPr id="8" name="Shape 5"/>
          <p:cNvSpPr/>
          <p:nvPr/>
        </p:nvSpPr>
        <p:spPr>
          <a:xfrm>
            <a:off x="960120" y="2606040"/>
            <a:ext cx="822960" cy="822960"/>
          </a:xfrm>
          <a:prstGeom prst="ellipse">
            <a:avLst/>
          </a:prstGeom>
          <a:solidFill>
            <a:srgbClr val="D8552F"/>
          </a:solidFill>
          <a:ln/>
        </p:spPr>
      </p:sp>
      <p:pic>
        <p:nvPicPr>
          <p:cNvPr id="9" name="Image 1" descr="/home/claude/pitch_deck/icons/exchange.png">    </p:cNvPr>
          <p:cNvPicPr>
            <a:picLocks noChangeAspect="1"/>
          </p:cNvPicPr>
          <p:nvPr/>
        </p:nvPicPr>
        <p:blipFill>
          <a:blip r:embed="rId2"/>
          <a:stretch>
            <a:fillRect/>
          </a:stretch>
        </p:blipFill>
        <p:spPr>
          <a:xfrm>
            <a:off x="1058875" y="2704795"/>
            <a:ext cx="625450" cy="625450"/>
          </a:xfrm>
          <a:prstGeom prst="rect">
            <a:avLst/>
          </a:prstGeom>
        </p:spPr>
      </p:pic>
      <p:sp>
        <p:nvSpPr>
          <p:cNvPr id="10" name="Text 6"/>
          <p:cNvSpPr/>
          <p:nvPr/>
        </p:nvSpPr>
        <p:spPr>
          <a:xfrm>
            <a:off x="1965960" y="2651760"/>
            <a:ext cx="3749040" cy="685800"/>
          </a:xfrm>
          <a:prstGeom prst="rect">
            <a:avLst/>
          </a:prstGeom>
          <a:noFill/>
          <a:ln/>
        </p:spPr>
        <p:txBody>
          <a:bodyPr wrap="square" lIns="0" tIns="0" rIns="0" bIns="0" rtlCol="0" anchor="ctr"/>
          <a:lstStyle/>
          <a:p>
            <a:pPr indent="0" marL="0">
              <a:buNone/>
            </a:pPr>
            <a:r>
              <a:rPr lang="en-US" sz="1600" b="1" dirty="0">
                <a:solidFill>
                  <a:srgbClr val="1B2B2B"/>
                </a:solidFill>
                <a:latin typeface="Cambria" pitchFamily="34" charset="0"/>
                <a:ea typeface="Cambria" pitchFamily="34" charset="-122"/>
                <a:cs typeface="Cambria" pitchFamily="34" charset="-120"/>
              </a:rPr>
              <a:t>1. The meaning of the numbers shifts</a:t>
            </a:r>
            <a:endParaRPr lang="en-US" sz="1600" dirty="0"/>
          </a:p>
        </p:txBody>
      </p:sp>
      <p:sp>
        <p:nvSpPr>
          <p:cNvPr id="11" name="Text 7"/>
          <p:cNvSpPr/>
          <p:nvPr/>
        </p:nvSpPr>
        <p:spPr>
          <a:xfrm>
            <a:off x="914400" y="3520440"/>
            <a:ext cx="4709160" cy="2377440"/>
          </a:xfrm>
          <a:prstGeom prst="rect">
            <a:avLst/>
          </a:prstGeom>
          <a:noFill/>
          <a:ln/>
        </p:spPr>
        <p:txBody>
          <a:bodyPr wrap="square" lIns="0" tIns="0" rIns="0" bIns="0" rtlCol="0" anchor="ctr"/>
          <a:lstStyle/>
          <a:p>
            <a:pPr indent="0" marL="0">
              <a:lnSpc>
                <a:spcPct val="130000"/>
              </a:lnSpc>
              <a:buNone/>
            </a:pPr>
            <a:r>
              <a:rPr lang="en-US" sz="1400" dirty="0">
                <a:solidFill>
                  <a:srgbClr val="1B2B2B"/>
                </a:solidFill>
                <a:latin typeface="Calibri" pitchFamily="34" charset="0"/>
                <a:ea typeface="Calibri" pitchFamily="34" charset="-122"/>
                <a:cs typeface="Calibri" pitchFamily="34" charset="-120"/>
              </a:rPr>
              <a:t>If you ever swap or update the AI model that generates these number-lists, old data and new data are suddenly speaking two different languages. The database doesn't know this happened — it just starts returning worse results, and everyone assumes the AI got dumber.</a:t>
            </a:r>
            <a:endParaRPr lang="en-US" sz="1400" dirty="0"/>
          </a:p>
        </p:txBody>
      </p:sp>
      <p:sp>
        <p:nvSpPr>
          <p:cNvPr id="12" name="Shape 8"/>
          <p:cNvSpPr/>
          <p:nvPr/>
        </p:nvSpPr>
        <p:spPr>
          <a:xfrm>
            <a:off x="6263640" y="2286000"/>
            <a:ext cx="5257800" cy="3794760"/>
          </a:xfrm>
          <a:prstGeom prst="roundRect">
            <a:avLst>
              <a:gd name="adj" fmla="val 2410"/>
            </a:avLst>
          </a:prstGeom>
          <a:solidFill>
            <a:srgbClr val="C97A2B">
              <a:alpha val="10000"/>
            </a:srgbClr>
          </a:solidFill>
          <a:ln w="12700">
            <a:solidFill>
              <a:srgbClr val="C97A2B"/>
            </a:solidFill>
            <a:prstDash val="solid"/>
          </a:ln>
        </p:spPr>
      </p:sp>
      <p:sp>
        <p:nvSpPr>
          <p:cNvPr id="13" name="Shape 9"/>
          <p:cNvSpPr/>
          <p:nvPr/>
        </p:nvSpPr>
        <p:spPr>
          <a:xfrm>
            <a:off x="6583680" y="2606040"/>
            <a:ext cx="822960" cy="822960"/>
          </a:xfrm>
          <a:prstGeom prst="ellipse">
            <a:avLst/>
          </a:prstGeom>
          <a:solidFill>
            <a:srgbClr val="C97A2B"/>
          </a:solidFill>
          <a:ln/>
        </p:spPr>
      </p:sp>
      <p:pic>
        <p:nvPicPr>
          <p:cNvPr id="14" name="Image 2" descr="/home/claude/pitch_deck/icons/mapsigns.png">    </p:cNvPr>
          <p:cNvPicPr>
            <a:picLocks noChangeAspect="1"/>
          </p:cNvPicPr>
          <p:nvPr/>
        </p:nvPicPr>
        <p:blipFill>
          <a:blip r:embed="rId3"/>
          <a:stretch>
            <a:fillRect/>
          </a:stretch>
        </p:blipFill>
        <p:spPr>
          <a:xfrm>
            <a:off x="6682435" y="2704795"/>
            <a:ext cx="625450" cy="625450"/>
          </a:xfrm>
          <a:prstGeom prst="rect">
            <a:avLst/>
          </a:prstGeom>
        </p:spPr>
      </p:pic>
      <p:sp>
        <p:nvSpPr>
          <p:cNvPr id="15" name="Text 10"/>
          <p:cNvSpPr/>
          <p:nvPr/>
        </p:nvSpPr>
        <p:spPr>
          <a:xfrm>
            <a:off x="7589520" y="2651760"/>
            <a:ext cx="3749040" cy="685800"/>
          </a:xfrm>
          <a:prstGeom prst="rect">
            <a:avLst/>
          </a:prstGeom>
          <a:noFill/>
          <a:ln/>
        </p:spPr>
        <p:txBody>
          <a:bodyPr wrap="square" lIns="0" tIns="0" rIns="0" bIns="0" rtlCol="0" anchor="ctr"/>
          <a:lstStyle/>
          <a:p>
            <a:pPr indent="0" marL="0">
              <a:buNone/>
            </a:pPr>
            <a:r>
              <a:rPr lang="en-US" sz="1600" b="1" dirty="0">
                <a:solidFill>
                  <a:srgbClr val="1B2B2B"/>
                </a:solidFill>
                <a:latin typeface="Cambria" pitchFamily="34" charset="0"/>
                <a:ea typeface="Cambria" pitchFamily="34" charset="-122"/>
                <a:cs typeface="Cambria" pitchFamily="34" charset="-120"/>
              </a:rPr>
              <a:t>2. The search shortcuts rot</a:t>
            </a:r>
            <a:endParaRPr lang="en-US" sz="1600" dirty="0"/>
          </a:p>
        </p:txBody>
      </p:sp>
      <p:sp>
        <p:nvSpPr>
          <p:cNvPr id="16" name="Text 11"/>
          <p:cNvSpPr/>
          <p:nvPr/>
        </p:nvSpPr>
        <p:spPr>
          <a:xfrm>
            <a:off x="6537960" y="3520440"/>
            <a:ext cx="4709160" cy="2377440"/>
          </a:xfrm>
          <a:prstGeom prst="rect">
            <a:avLst/>
          </a:prstGeom>
          <a:noFill/>
          <a:ln/>
        </p:spPr>
        <p:txBody>
          <a:bodyPr wrap="square" lIns="0" tIns="0" rIns="0" bIns="0" rtlCol="0" anchor="ctr"/>
          <a:lstStyle/>
          <a:p>
            <a:pPr indent="0" marL="0">
              <a:lnSpc>
                <a:spcPct val="130000"/>
              </a:lnSpc>
              <a:buNone/>
            </a:pPr>
            <a:r>
              <a:rPr lang="en-US" sz="1400" dirty="0">
                <a:solidFill>
                  <a:srgbClr val="1B2B2B"/>
                </a:solidFill>
                <a:latin typeface="Calibri" pitchFamily="34" charset="0"/>
                <a:ea typeface="Calibri" pitchFamily="34" charset="-122"/>
                <a:cs typeface="Calibri" pitchFamily="34" charset="-120"/>
              </a:rPr>
              <a:t>Databases build a fast “map” so they don't check every record. Keep adding and deleting data without maintaining that map, and it gets messy — like a filing cabinet reorganized so many times the labels don't match the drawers. Search gets slower and less accurate.</a:t>
            </a:r>
            <a:endParaRPr lang="en-US" sz="1400" dirty="0"/>
          </a:p>
        </p:txBody>
      </p:sp>
      <p:sp>
        <p:nvSpPr>
          <p:cNvPr id="17" name="Text 1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8" name="Text 1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6E6F65"/>
          </a:solidFill>
          <a:ln/>
        </p:spPr>
      </p:sp>
      <p:pic>
        <p:nvPicPr>
          <p:cNvPr id="3" name="Image 0" descr="/home/claude/pitch_deck/icons/redo.png">    </p:cNvPr>
          <p:cNvPicPr>
            <a:picLocks noChangeAspect="1"/>
          </p:cNvPicPr>
          <p:nvPr/>
        </p:nvPicPr>
        <p:blipFill>
          <a:blip r:embed="rId1"/>
          <a:stretch>
            <a:fillRect/>
          </a:stretch>
        </p:blipFill>
        <p:spPr>
          <a:xfrm>
            <a:off x="568757" y="431597"/>
            <a:ext cx="416966" cy="416966"/>
          </a:xfrm>
          <a:prstGeom prst="rect">
            <a:avLst/>
          </a:prstGeom>
        </p:spPr>
      </p:pic>
      <p:sp>
        <p:nvSpPr>
          <p:cNvPr id="4" name="Text 1"/>
          <p:cNvSpPr/>
          <p:nvPr/>
        </p:nvSpPr>
        <p:spPr>
          <a:xfrm>
            <a:off x="1234440" y="384048"/>
            <a:ext cx="9144000" cy="274320"/>
          </a:xfrm>
          <a:prstGeom prst="rect">
            <a:avLst/>
          </a:prstGeom>
          <a:noFill/>
          <a:ln/>
        </p:spPr>
        <p:txBody>
          <a:bodyPr wrap="square" lIns="0" tIns="0" rIns="0" bIns="0" rtlCol="0" anchor="ctr"/>
          <a:lstStyle/>
          <a:p>
            <a:pPr indent="0" marL="0">
              <a:buNone/>
            </a:pPr>
            <a:r>
              <a:rPr lang="en-US" sz="1200" dirty="0">
                <a:solidFill>
                  <a:srgbClr val="5B6B6B"/>
                </a:solidFill>
                <a:latin typeface="Calibri" pitchFamily="34" charset="0"/>
                <a:ea typeface="Calibri" pitchFamily="34" charset="-122"/>
                <a:cs typeface="Calibri" pitchFamily="34" charset="-120"/>
              </a:rPr>
              <a:t>How this is normally handled</a:t>
            </a:r>
            <a:endParaRPr lang="en-US" sz="1200" dirty="0"/>
          </a:p>
        </p:txBody>
      </p:sp>
      <p:sp>
        <p:nvSpPr>
          <p:cNvPr id="5" name="Text 2"/>
          <p:cNvSpPr/>
          <p:nvPr/>
        </p:nvSpPr>
        <p:spPr>
          <a:xfrm>
            <a:off x="1234440" y="621792"/>
            <a:ext cx="10241280" cy="548640"/>
          </a:xfrm>
          <a:prstGeom prst="rect">
            <a:avLst/>
          </a:prstGeom>
          <a:noFill/>
          <a:ln/>
        </p:spPr>
        <p:txBody>
          <a:bodyPr wrap="square" lIns="0" tIns="0" rIns="0" bIns="0" rtlCol="0" anchor="ctr"/>
          <a:lstStyle/>
          <a:p>
            <a:pPr indent="0" marL="0">
              <a:buNone/>
            </a:pPr>
            <a:r>
              <a:rPr lang="en-US" sz="2400" b="1" dirty="0">
                <a:solidFill>
                  <a:srgbClr val="1B2B2B"/>
                </a:solidFill>
                <a:latin typeface="Cambria" pitchFamily="34" charset="0"/>
                <a:ea typeface="Cambria" pitchFamily="34" charset="-122"/>
                <a:cs typeface="Cambria" pitchFamily="34" charset="-120"/>
              </a:rPr>
              <a:t>The usual fix: rebuild everything from zero</a:t>
            </a:r>
            <a:endParaRPr lang="en-US" sz="2400" dirty="0"/>
          </a:p>
        </p:txBody>
      </p:sp>
      <p:sp>
        <p:nvSpPr>
          <p:cNvPr id="6" name="Text 3"/>
          <p:cNvSpPr/>
          <p:nvPr/>
        </p:nvSpPr>
        <p:spPr>
          <a:xfrm>
            <a:off x="640080" y="1554480"/>
            <a:ext cx="10515600" cy="640080"/>
          </a:xfrm>
          <a:prstGeom prst="rect">
            <a:avLst/>
          </a:prstGeom>
          <a:noFill/>
          <a:ln/>
        </p:spPr>
        <p:txBody>
          <a:bodyPr wrap="square" lIns="0" tIns="0" rIns="0" bIns="0" rtlCol="0" anchor="ctr"/>
          <a:lstStyle/>
          <a:p>
            <a:pPr indent="0" marL="0">
              <a:buNone/>
            </a:pPr>
            <a:r>
              <a:rPr lang="en-US" sz="1600" dirty="0">
                <a:solidFill>
                  <a:srgbClr val="1B2B2B"/>
                </a:solidFill>
                <a:latin typeface="Calibri" pitchFamily="34" charset="0"/>
                <a:ea typeface="Calibri" pitchFamily="34" charset="-122"/>
                <a:cs typeface="Calibri" pitchFamily="34" charset="-120"/>
              </a:rPr>
              <a:t>Today, the standard response to either problem is the same blunt instrument — wipe the database and rebuild it completely, from scratch.</a:t>
            </a:r>
            <a:endParaRPr lang="en-US" sz="1600" dirty="0"/>
          </a:p>
        </p:txBody>
      </p:sp>
      <p:sp>
        <p:nvSpPr>
          <p:cNvPr id="7" name="Shape 4"/>
          <p:cNvSpPr/>
          <p:nvPr/>
        </p:nvSpPr>
        <p:spPr>
          <a:xfrm>
            <a:off x="640080" y="2468880"/>
            <a:ext cx="10881360" cy="3108960"/>
          </a:xfrm>
          <a:prstGeom prst="roundRect">
            <a:avLst>
              <a:gd name="adj" fmla="val 2941"/>
            </a:avLst>
          </a:prstGeom>
          <a:solidFill>
            <a:srgbClr val="6E6F65">
              <a:alpha val="8000"/>
            </a:srgbClr>
          </a:solidFill>
          <a:ln w="12700">
            <a:solidFill>
              <a:srgbClr val="6E6F65"/>
            </a:solidFill>
            <a:prstDash val="solid"/>
          </a:ln>
        </p:spPr>
      </p:sp>
      <p:sp>
        <p:nvSpPr>
          <p:cNvPr id="8" name="Text 5"/>
          <p:cNvSpPr/>
          <p:nvPr/>
        </p:nvSpPr>
        <p:spPr>
          <a:xfrm>
            <a:off x="1005840" y="2743200"/>
            <a:ext cx="10149840" cy="1005840"/>
          </a:xfrm>
          <a:prstGeom prst="rect">
            <a:avLst/>
          </a:prstGeom>
          <a:noFill/>
          <a:ln/>
        </p:spPr>
        <p:txBody>
          <a:bodyPr wrap="square" lIns="0" tIns="0" rIns="0" bIns="0" rtlCol="0" anchor="ctr"/>
          <a:lstStyle/>
          <a:p>
            <a:pPr indent="0" marL="0">
              <a:lnSpc>
                <a:spcPct val="130000"/>
              </a:lnSpc>
              <a:buNone/>
            </a:pPr>
            <a:r>
              <a:rPr lang="en-US" sz="2000" i="1" dirty="0">
                <a:solidFill>
                  <a:srgbClr val="1B2B2B"/>
                </a:solidFill>
                <a:latin typeface="Cambria" pitchFamily="34" charset="0"/>
                <a:ea typeface="Cambria" pitchFamily="34" charset="-122"/>
                <a:cs typeface="Cambria" pitchFamily="34" charset="-120"/>
              </a:rPr>
              <a:t>That works — but it's slow, expensive, and almost always overkill. You're throwing away 99% of a database that was perfectly fine, just to fix the 1% that actually broke.</a:t>
            </a:r>
            <a:endParaRPr lang="en-US" sz="2000" dirty="0"/>
          </a:p>
        </p:txBody>
      </p:sp>
      <p:sp>
        <p:nvSpPr>
          <p:cNvPr id="9" name="Text 6"/>
          <p:cNvSpPr/>
          <p:nvPr/>
        </p:nvSpPr>
        <p:spPr>
          <a:xfrm>
            <a:off x="1005840" y="3931920"/>
            <a:ext cx="10149840" cy="548640"/>
          </a:xfrm>
          <a:prstGeom prst="rect">
            <a:avLst/>
          </a:prstGeom>
          <a:noFill/>
          <a:ln/>
        </p:spPr>
        <p:txBody>
          <a:bodyPr wrap="square" lIns="0" tIns="0" rIns="0" bIns="0" rtlCol="0" anchor="ctr"/>
          <a:lstStyle/>
          <a:p>
            <a:pPr indent="0" marL="0">
              <a:buNone/>
            </a:pPr>
            <a:r>
              <a:rPr lang="en-US" sz="1500" dirty="0">
                <a:solidFill>
                  <a:srgbClr val="5B6B6B"/>
                </a:solidFill>
                <a:latin typeface="Calibri" pitchFamily="34" charset="0"/>
                <a:ea typeface="Calibri" pitchFamily="34" charset="-122"/>
                <a:cs typeface="Calibri" pitchFamily="34" charset="-120"/>
              </a:rPr>
              <a:t>Think of it like repainting an entire house because one wall got a scuff mark.</a:t>
            </a:r>
            <a:endParaRPr lang="en-US" sz="1500" dirty="0"/>
          </a:p>
        </p:txBody>
      </p:sp>
      <p:sp>
        <p:nvSpPr>
          <p:cNvPr id="10" name="Text 7"/>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1" name="Text 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0A896"/>
          </a:solidFill>
          <a:ln/>
        </p:spPr>
      </p:sp>
      <p:pic>
        <p:nvPicPr>
          <p:cNvPr id="3" name="Image 0" descr="/home/claude/pitch_deck/icons/lightbulb.png">    </p:cNvPr>
          <p:cNvPicPr>
            <a:picLocks noChangeAspect="1"/>
          </p:cNvPicPr>
          <p:nvPr/>
        </p:nvPicPr>
        <p:blipFill>
          <a:blip r:embed="rId1"/>
          <a:stretch>
            <a:fillRect/>
          </a:stretch>
        </p:blipFill>
        <p:spPr>
          <a:xfrm>
            <a:off x="568757" y="431597"/>
            <a:ext cx="416966" cy="416966"/>
          </a:xfrm>
          <a:prstGeom prst="rect">
            <a:avLst/>
          </a:prstGeom>
        </p:spPr>
      </p:pic>
      <p:sp>
        <p:nvSpPr>
          <p:cNvPr id="4" name="Text 1"/>
          <p:cNvSpPr/>
          <p:nvPr/>
        </p:nvSpPr>
        <p:spPr>
          <a:xfrm>
            <a:off x="1234440" y="384048"/>
            <a:ext cx="9144000" cy="274320"/>
          </a:xfrm>
          <a:prstGeom prst="rect">
            <a:avLst/>
          </a:prstGeom>
          <a:noFill/>
          <a:ln/>
        </p:spPr>
        <p:txBody>
          <a:bodyPr wrap="square" lIns="0" tIns="0" rIns="0" bIns="0" rtlCol="0" anchor="ctr"/>
          <a:lstStyle/>
          <a:p>
            <a:pPr indent="0" marL="0">
              <a:buNone/>
            </a:pPr>
            <a:r>
              <a:rPr lang="en-US" sz="1200" dirty="0">
                <a:solidFill>
                  <a:srgbClr val="5B6B6B"/>
                </a:solidFill>
                <a:latin typeface="Calibri" pitchFamily="34" charset="0"/>
                <a:ea typeface="Calibri" pitchFamily="34" charset="-122"/>
                <a:cs typeface="Calibri" pitchFamily="34" charset="-120"/>
              </a:rPr>
              <a:t>Our idea</a:t>
            </a:r>
            <a:endParaRPr lang="en-US" sz="1200" dirty="0"/>
          </a:p>
        </p:txBody>
      </p:sp>
      <p:sp>
        <p:nvSpPr>
          <p:cNvPr id="5" name="Text 2"/>
          <p:cNvSpPr/>
          <p:nvPr/>
        </p:nvSpPr>
        <p:spPr>
          <a:xfrm>
            <a:off x="1234440" y="621792"/>
            <a:ext cx="10241280" cy="548640"/>
          </a:xfrm>
          <a:prstGeom prst="rect">
            <a:avLst/>
          </a:prstGeom>
          <a:noFill/>
          <a:ln/>
        </p:spPr>
        <p:txBody>
          <a:bodyPr wrap="square" lIns="0" tIns="0" rIns="0" bIns="0" rtlCol="0" anchor="ctr"/>
          <a:lstStyle/>
          <a:p>
            <a:pPr indent="0" marL="0">
              <a:buNone/>
            </a:pPr>
            <a:r>
              <a:rPr lang="en-US" sz="2400" b="1" dirty="0">
                <a:solidFill>
                  <a:srgbClr val="1B2B2B"/>
                </a:solidFill>
                <a:latin typeface="Cambria" pitchFamily="34" charset="0"/>
                <a:ea typeface="Cambria" pitchFamily="34" charset="-122"/>
                <a:cs typeface="Cambria" pitchFamily="34" charset="-120"/>
              </a:rPr>
              <a:t>Build a database that watches, diagnoses, and heals itself</a:t>
            </a:r>
            <a:endParaRPr lang="en-US" sz="2400" dirty="0"/>
          </a:p>
        </p:txBody>
      </p:sp>
      <p:sp>
        <p:nvSpPr>
          <p:cNvPr id="6" name="Shape 3"/>
          <p:cNvSpPr/>
          <p:nvPr/>
        </p:nvSpPr>
        <p:spPr>
          <a:xfrm>
            <a:off x="640080" y="1691640"/>
            <a:ext cx="10881360" cy="1828800"/>
          </a:xfrm>
          <a:prstGeom prst="roundRect">
            <a:avLst>
              <a:gd name="adj" fmla="val 5000"/>
            </a:avLst>
          </a:prstGeom>
          <a:solidFill>
            <a:srgbClr val="00A896">
              <a:alpha val="10000"/>
            </a:srgbClr>
          </a:solidFill>
          <a:ln w="12700">
            <a:solidFill>
              <a:srgbClr val="00A896"/>
            </a:solidFill>
            <a:prstDash val="solid"/>
          </a:ln>
        </p:spPr>
      </p:sp>
      <p:sp>
        <p:nvSpPr>
          <p:cNvPr id="7" name="Text 4"/>
          <p:cNvSpPr/>
          <p:nvPr/>
        </p:nvSpPr>
        <p:spPr>
          <a:xfrm>
            <a:off x="1005840" y="1920240"/>
            <a:ext cx="10149840" cy="1417320"/>
          </a:xfrm>
          <a:prstGeom prst="rect">
            <a:avLst/>
          </a:prstGeom>
          <a:noFill/>
          <a:ln/>
        </p:spPr>
        <p:txBody>
          <a:bodyPr wrap="square" lIns="0" tIns="0" rIns="0" bIns="0" rtlCol="0" anchor="ctr"/>
          <a:lstStyle/>
          <a:p>
            <a:pPr indent="0" marL="0">
              <a:lnSpc>
                <a:spcPct val="135000"/>
              </a:lnSpc>
              <a:buNone/>
            </a:pPr>
            <a:r>
              <a:rPr lang="en-US" sz="1800" i="1" dirty="0">
                <a:solidFill>
                  <a:srgbClr val="1B2B2B"/>
                </a:solidFill>
                <a:latin typeface="Cambria" pitchFamily="34" charset="0"/>
                <a:ea typeface="Cambria" pitchFamily="34" charset="-122"/>
                <a:cs typeface="Cambria" pitchFamily="34" charset="-120"/>
              </a:rPr>
              <a:t>Picture a smoke detector wired directly to a fire extinguisher that only sprays the exact room that's on fire, then checks the smoke is actually gone before declaring victory — instead of hosing down the entire building every time someone burns toast.</a:t>
            </a:r>
            <a:endParaRPr lang="en-US" sz="1800" dirty="0"/>
          </a:p>
        </p:txBody>
      </p:sp>
      <p:sp>
        <p:nvSpPr>
          <p:cNvPr id="8" name="Text 5"/>
          <p:cNvSpPr/>
          <p:nvPr/>
        </p:nvSpPr>
        <p:spPr>
          <a:xfrm>
            <a:off x="640080" y="3840480"/>
            <a:ext cx="10515600" cy="548640"/>
          </a:xfrm>
          <a:prstGeom prst="rect">
            <a:avLst/>
          </a:prstGeom>
          <a:noFill/>
          <a:ln/>
        </p:spPr>
        <p:txBody>
          <a:bodyPr wrap="square" lIns="0" tIns="0" rIns="0" bIns="0" rtlCol="0" anchor="ctr"/>
          <a:lstStyle/>
          <a:p>
            <a:pPr indent="0" marL="0">
              <a:buNone/>
            </a:pPr>
            <a:r>
              <a:rPr lang="en-US" sz="1700" b="1" dirty="0">
                <a:solidFill>
                  <a:srgbClr val="028090"/>
                </a:solidFill>
                <a:latin typeface="Calibri" pitchFamily="34" charset="0"/>
                <a:ea typeface="Calibri" pitchFamily="34" charset="-122"/>
                <a:cs typeface="Calibri" pitchFamily="34" charset="-120"/>
              </a:rPr>
              <a:t>That's the idea: notice → diagnose → fix only what's broken → verify → done.</a:t>
            </a:r>
            <a:endParaRPr lang="en-US" sz="170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6858000"/>
          </a:xfrm>
          <a:prstGeom prst="rect">
            <a:avLst/>
          </a:prstGeom>
          <a:solidFill>
            <a:srgbClr val="6E6F65">
              <a:alpha val="10000"/>
            </a:srgbClr>
          </a:solidFill>
          <a:ln/>
        </p:spPr>
      </p:sp>
      <p:sp>
        <p:nvSpPr>
          <p:cNvPr id="3" name="Shape 1"/>
          <p:cNvSpPr/>
          <p:nvPr/>
        </p:nvSpPr>
        <p:spPr>
          <a:xfrm>
            <a:off x="1051560" y="2194560"/>
            <a:ext cx="1234440" cy="1234440"/>
          </a:xfrm>
          <a:prstGeom prst="ellipse">
            <a:avLst/>
          </a:prstGeom>
          <a:solidFill>
            <a:srgbClr val="6E6F65"/>
          </a:solidFill>
          <a:ln/>
        </p:spPr>
      </p:sp>
      <p:pic>
        <p:nvPicPr>
          <p:cNvPr id="4" name="Image 0" descr="/home/claude/pitch_deck/icons/database.png">    </p:cNvPr>
          <p:cNvPicPr>
            <a:picLocks noChangeAspect="1"/>
          </p:cNvPicPr>
          <p:nvPr/>
        </p:nvPicPr>
        <p:blipFill>
          <a:blip r:embed="rId1"/>
          <a:stretch>
            <a:fillRect/>
          </a:stretch>
        </p:blipFill>
        <p:spPr>
          <a:xfrm>
            <a:off x="1199693" y="2342693"/>
            <a:ext cx="938174" cy="938174"/>
          </a:xfrm>
          <a:prstGeom prst="rect">
            <a:avLst/>
          </a:prstGeom>
        </p:spPr>
      </p:pic>
      <p:sp>
        <p:nvSpPr>
          <p:cNvPr id="5" name="Text 2"/>
          <p:cNvSpPr/>
          <p:nvPr/>
        </p:nvSpPr>
        <p:spPr>
          <a:xfrm>
            <a:off x="365760" y="3657600"/>
            <a:ext cx="2377440" cy="274320"/>
          </a:xfrm>
          <a:prstGeom prst="rect">
            <a:avLst/>
          </a:prstGeom>
          <a:noFill/>
          <a:ln/>
        </p:spPr>
        <p:txBody>
          <a:bodyPr wrap="square" lIns="0" tIns="0" rIns="0" bIns="0" rtlCol="0" anchor="ctr"/>
          <a:lstStyle/>
          <a:p>
            <a:pPr algn="ctr" indent="0" marL="0">
              <a:buNone/>
            </a:pPr>
            <a:r>
              <a:rPr lang="en-US" sz="1100" b="1" spc="150" kern="0" dirty="0">
                <a:solidFill>
                  <a:srgbClr val="6E6F65"/>
                </a:solidFill>
                <a:latin typeface="Calibri" pitchFamily="34" charset="0"/>
                <a:ea typeface="Calibri" pitchFamily="34" charset="-122"/>
                <a:cs typeface="Calibri" pitchFamily="34" charset="-120"/>
              </a:rPr>
              <a:t>STAGE 1 OF 7</a:t>
            </a:r>
            <a:endParaRPr lang="en-US" sz="1100" dirty="0"/>
          </a:p>
        </p:txBody>
      </p:sp>
      <p:sp>
        <p:nvSpPr>
          <p:cNvPr id="6" name="Text 3"/>
          <p:cNvSpPr/>
          <p:nvPr/>
        </p:nvSpPr>
        <p:spPr>
          <a:xfrm>
            <a:off x="3657600" y="1554480"/>
            <a:ext cx="7955280" cy="1051560"/>
          </a:xfrm>
          <a:prstGeom prst="rect">
            <a:avLst/>
          </a:prstGeom>
          <a:noFill/>
          <a:ln/>
        </p:spPr>
        <p:txBody>
          <a:bodyPr wrap="square" lIns="0" tIns="0" rIns="0" bIns="0" rtlCol="0" anchor="ctr"/>
          <a:lstStyle/>
          <a:p>
            <a:pPr indent="0" marL="0">
              <a:buNone/>
            </a:pPr>
            <a:r>
              <a:rPr lang="en-US" sz="2700" b="1" dirty="0">
                <a:solidFill>
                  <a:srgbClr val="1B2B2B"/>
                </a:solidFill>
                <a:latin typeface="Cambria" pitchFamily="34" charset="0"/>
                <a:ea typeface="Cambria" pitchFamily="34" charset="-122"/>
                <a:cs typeface="Cambria" pitchFamily="34" charset="-120"/>
              </a:rPr>
              <a:t>Give it a memory of “healthy”</a:t>
            </a:r>
            <a:endParaRPr lang="en-US" sz="2700" dirty="0"/>
          </a:p>
        </p:txBody>
      </p:sp>
      <p:sp>
        <p:nvSpPr>
          <p:cNvPr id="7" name="Shape 4"/>
          <p:cNvSpPr/>
          <p:nvPr/>
        </p:nvSpPr>
        <p:spPr>
          <a:xfrm>
            <a:off x="3657600" y="2606040"/>
            <a:ext cx="502920" cy="36576"/>
          </a:xfrm>
          <a:prstGeom prst="rect">
            <a:avLst/>
          </a:prstGeom>
          <a:solidFill>
            <a:srgbClr val="6E6F65"/>
          </a:solidFill>
          <a:ln/>
        </p:spPr>
      </p:sp>
      <p:sp>
        <p:nvSpPr>
          <p:cNvPr id="8" name="Text 5"/>
          <p:cNvSpPr/>
          <p:nvPr/>
        </p:nvSpPr>
        <p:spPr>
          <a:xfrm>
            <a:off x="3657600" y="2880360"/>
            <a:ext cx="7955280" cy="3017520"/>
          </a:xfrm>
          <a:prstGeom prst="rect">
            <a:avLst/>
          </a:prstGeom>
          <a:noFill/>
          <a:ln/>
        </p:spPr>
        <p:txBody>
          <a:bodyPr wrap="square" lIns="0" tIns="0" rIns="0" bIns="0" rtlCol="0" anchor="ctr"/>
          <a:lstStyle/>
          <a:p>
            <a:pPr algn="l" indent="0" marL="0">
              <a:lnSpc>
                <a:spcPct val="135000"/>
              </a:lnSpc>
              <a:buNone/>
            </a:pPr>
            <a:r>
              <a:rPr lang="en-US" sz="1550" dirty="0">
                <a:solidFill>
                  <a:srgbClr val="1B2B2B"/>
                </a:solidFill>
                <a:latin typeface="Calibri" pitchFamily="34" charset="0"/>
                <a:ea typeface="Calibri" pitchFamily="34" charset="-122"/>
                <a:cs typeface="Calibri" pitchFamily="34" charset="-120"/>
              </a:rPr>
              <a:t>Before anything can go wrong, we need to know what “right” looks like. We built a small test database, gave it a fixed set of test questions with known correct answers, and confirmed it answers every single one correctly and instantly. This is our gold-standard baseline — the “before” photo everything else gets compared against.</a:t>
            </a:r>
            <a:endParaRPr lang="en-US" sz="155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6858000"/>
          </a:xfrm>
          <a:prstGeom prst="rect">
            <a:avLst/>
          </a:prstGeom>
          <a:solidFill>
            <a:srgbClr val="028090">
              <a:alpha val="10000"/>
            </a:srgbClr>
          </a:solidFill>
          <a:ln/>
        </p:spPr>
      </p:sp>
      <p:sp>
        <p:nvSpPr>
          <p:cNvPr id="3" name="Shape 1"/>
          <p:cNvSpPr/>
          <p:nvPr/>
        </p:nvSpPr>
        <p:spPr>
          <a:xfrm>
            <a:off x="1051560" y="2194560"/>
            <a:ext cx="1234440" cy="1234440"/>
          </a:xfrm>
          <a:prstGeom prst="ellipse">
            <a:avLst/>
          </a:prstGeom>
          <a:solidFill>
            <a:srgbClr val="028090"/>
          </a:solidFill>
          <a:ln/>
        </p:spPr>
      </p:sp>
      <p:pic>
        <p:nvPicPr>
          <p:cNvPr id="4" name="Image 0" descr="/home/claude/pitch_deck/icons/heartbeat.png">    </p:cNvPr>
          <p:cNvPicPr>
            <a:picLocks noChangeAspect="1"/>
          </p:cNvPicPr>
          <p:nvPr/>
        </p:nvPicPr>
        <p:blipFill>
          <a:blip r:embed="rId1"/>
          <a:stretch>
            <a:fillRect/>
          </a:stretch>
        </p:blipFill>
        <p:spPr>
          <a:xfrm>
            <a:off x="1199693" y="2342693"/>
            <a:ext cx="938174" cy="938174"/>
          </a:xfrm>
          <a:prstGeom prst="rect">
            <a:avLst/>
          </a:prstGeom>
        </p:spPr>
      </p:pic>
      <p:sp>
        <p:nvSpPr>
          <p:cNvPr id="5" name="Text 2"/>
          <p:cNvSpPr/>
          <p:nvPr/>
        </p:nvSpPr>
        <p:spPr>
          <a:xfrm>
            <a:off x="365760" y="3657600"/>
            <a:ext cx="2377440" cy="274320"/>
          </a:xfrm>
          <a:prstGeom prst="rect">
            <a:avLst/>
          </a:prstGeom>
          <a:noFill/>
          <a:ln/>
        </p:spPr>
        <p:txBody>
          <a:bodyPr wrap="square" lIns="0" tIns="0" rIns="0" bIns="0" rtlCol="0" anchor="ctr"/>
          <a:lstStyle/>
          <a:p>
            <a:pPr algn="ctr" indent="0" marL="0">
              <a:buNone/>
            </a:pPr>
            <a:r>
              <a:rPr lang="en-US" sz="1100" b="1" spc="150" kern="0" dirty="0">
                <a:solidFill>
                  <a:srgbClr val="028090"/>
                </a:solidFill>
                <a:latin typeface="Calibri" pitchFamily="34" charset="0"/>
                <a:ea typeface="Calibri" pitchFamily="34" charset="-122"/>
                <a:cs typeface="Calibri" pitchFamily="34" charset="-120"/>
              </a:rPr>
              <a:t>STAGE 2 OF 7</a:t>
            </a:r>
            <a:endParaRPr lang="en-US" sz="1100" dirty="0"/>
          </a:p>
        </p:txBody>
      </p:sp>
      <p:sp>
        <p:nvSpPr>
          <p:cNvPr id="6" name="Text 3"/>
          <p:cNvSpPr/>
          <p:nvPr/>
        </p:nvSpPr>
        <p:spPr>
          <a:xfrm>
            <a:off x="3657600" y="1554480"/>
            <a:ext cx="7955280" cy="1051560"/>
          </a:xfrm>
          <a:prstGeom prst="rect">
            <a:avLst/>
          </a:prstGeom>
          <a:noFill/>
          <a:ln/>
        </p:spPr>
        <p:txBody>
          <a:bodyPr wrap="square" lIns="0" tIns="0" rIns="0" bIns="0" rtlCol="0" anchor="ctr"/>
          <a:lstStyle/>
          <a:p>
            <a:pPr indent="0" marL="0">
              <a:buNone/>
            </a:pPr>
            <a:r>
              <a:rPr lang="en-US" sz="2700" b="1" dirty="0">
                <a:solidFill>
                  <a:srgbClr val="1B2B2B"/>
                </a:solidFill>
                <a:latin typeface="Cambria" pitchFamily="34" charset="0"/>
                <a:ea typeface="Cambria" pitchFamily="34" charset="-122"/>
                <a:cs typeface="Cambria" pitchFamily="34" charset="-120"/>
              </a:rPr>
              <a:t>Teach it to watch itself</a:t>
            </a:r>
            <a:endParaRPr lang="en-US" sz="2700" dirty="0"/>
          </a:p>
        </p:txBody>
      </p:sp>
      <p:sp>
        <p:nvSpPr>
          <p:cNvPr id="7" name="Shape 4"/>
          <p:cNvSpPr/>
          <p:nvPr/>
        </p:nvSpPr>
        <p:spPr>
          <a:xfrm>
            <a:off x="3657600" y="2606040"/>
            <a:ext cx="502920" cy="36576"/>
          </a:xfrm>
          <a:prstGeom prst="rect">
            <a:avLst/>
          </a:prstGeom>
          <a:solidFill>
            <a:srgbClr val="028090"/>
          </a:solidFill>
          <a:ln/>
        </p:spPr>
      </p:sp>
      <p:sp>
        <p:nvSpPr>
          <p:cNvPr id="8" name="Text 5"/>
          <p:cNvSpPr/>
          <p:nvPr/>
        </p:nvSpPr>
        <p:spPr>
          <a:xfrm>
            <a:off x="3657600" y="2880360"/>
            <a:ext cx="7955280" cy="3017520"/>
          </a:xfrm>
          <a:prstGeom prst="rect">
            <a:avLst/>
          </a:prstGeom>
          <a:noFill/>
          <a:ln/>
        </p:spPr>
        <p:txBody>
          <a:bodyPr wrap="square" lIns="0" tIns="0" rIns="0" bIns="0" rtlCol="0" anchor="ctr"/>
          <a:lstStyle/>
          <a:p>
            <a:pPr algn="l" indent="0" marL="0">
              <a:lnSpc>
                <a:spcPct val="135000"/>
              </a:lnSpc>
              <a:buNone/>
            </a:pPr>
            <a:r>
              <a:rPr lang="en-US" sz="1550" dirty="0">
                <a:solidFill>
                  <a:srgbClr val="1B2B2B"/>
                </a:solidFill>
                <a:latin typeface="Calibri" pitchFamily="34" charset="0"/>
                <a:ea typeface="Calibri" pitchFamily="34" charset="-122"/>
                <a:cs typeface="Calibri" pitchFamily="34" charset="-120"/>
              </a:rPr>
              <a:t>A monitoring layer continuously re-asks those same test questions and tracks a handful of vital signs: how many answers are still correct, how fast answers come back, how much data is running on an outdated “language,” and how much digital clutter has built up. Think of it as a regular health checkup with a fixed set of vitals, run over and over.</a:t>
            </a:r>
            <a:endParaRPr lang="en-US" sz="155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6858000"/>
          </a:xfrm>
          <a:prstGeom prst="rect">
            <a:avLst/>
          </a:prstGeom>
          <a:solidFill>
            <a:srgbClr val="D8552F">
              <a:alpha val="10000"/>
            </a:srgbClr>
          </a:solidFill>
          <a:ln/>
        </p:spPr>
      </p:sp>
      <p:sp>
        <p:nvSpPr>
          <p:cNvPr id="3" name="Shape 1"/>
          <p:cNvSpPr/>
          <p:nvPr/>
        </p:nvSpPr>
        <p:spPr>
          <a:xfrm>
            <a:off x="1051560" y="2194560"/>
            <a:ext cx="1234440" cy="1234440"/>
          </a:xfrm>
          <a:prstGeom prst="ellipse">
            <a:avLst/>
          </a:prstGeom>
          <a:solidFill>
            <a:srgbClr val="D8552F"/>
          </a:solidFill>
          <a:ln/>
        </p:spPr>
      </p:sp>
      <p:pic>
        <p:nvPicPr>
          <p:cNvPr id="4" name="Image 0" descr="/home/claude/pitch_deck/icons/bug.png">    </p:cNvPr>
          <p:cNvPicPr>
            <a:picLocks noChangeAspect="1"/>
          </p:cNvPicPr>
          <p:nvPr/>
        </p:nvPicPr>
        <p:blipFill>
          <a:blip r:embed="rId1"/>
          <a:stretch>
            <a:fillRect/>
          </a:stretch>
        </p:blipFill>
        <p:spPr>
          <a:xfrm>
            <a:off x="1199693" y="2342693"/>
            <a:ext cx="938174" cy="938174"/>
          </a:xfrm>
          <a:prstGeom prst="rect">
            <a:avLst/>
          </a:prstGeom>
        </p:spPr>
      </p:pic>
      <p:sp>
        <p:nvSpPr>
          <p:cNvPr id="5" name="Text 2"/>
          <p:cNvSpPr/>
          <p:nvPr/>
        </p:nvSpPr>
        <p:spPr>
          <a:xfrm>
            <a:off x="365760" y="3657600"/>
            <a:ext cx="2377440" cy="274320"/>
          </a:xfrm>
          <a:prstGeom prst="rect">
            <a:avLst/>
          </a:prstGeom>
          <a:noFill/>
          <a:ln/>
        </p:spPr>
        <p:txBody>
          <a:bodyPr wrap="square" lIns="0" tIns="0" rIns="0" bIns="0" rtlCol="0" anchor="ctr"/>
          <a:lstStyle/>
          <a:p>
            <a:pPr algn="ctr" indent="0" marL="0">
              <a:buNone/>
            </a:pPr>
            <a:r>
              <a:rPr lang="en-US" sz="1100" b="1" spc="150" kern="0" dirty="0">
                <a:solidFill>
                  <a:srgbClr val="D8552F"/>
                </a:solidFill>
                <a:latin typeface="Calibri" pitchFamily="34" charset="0"/>
                <a:ea typeface="Calibri" pitchFamily="34" charset="-122"/>
                <a:cs typeface="Calibri" pitchFamily="34" charset="-120"/>
              </a:rPr>
              <a:t>STAGE 3 OF 7</a:t>
            </a:r>
            <a:endParaRPr lang="en-US" sz="1100" dirty="0"/>
          </a:p>
        </p:txBody>
      </p:sp>
      <p:sp>
        <p:nvSpPr>
          <p:cNvPr id="6" name="Text 3"/>
          <p:cNvSpPr/>
          <p:nvPr/>
        </p:nvSpPr>
        <p:spPr>
          <a:xfrm>
            <a:off x="3657600" y="1554480"/>
            <a:ext cx="7955280" cy="1051560"/>
          </a:xfrm>
          <a:prstGeom prst="rect">
            <a:avLst/>
          </a:prstGeom>
          <a:noFill/>
          <a:ln/>
        </p:spPr>
        <p:txBody>
          <a:bodyPr wrap="square" lIns="0" tIns="0" rIns="0" bIns="0" rtlCol="0" anchor="ctr"/>
          <a:lstStyle/>
          <a:p>
            <a:pPr indent="0" marL="0">
              <a:buNone/>
            </a:pPr>
            <a:r>
              <a:rPr lang="en-US" sz="2700" b="1" dirty="0">
                <a:solidFill>
                  <a:srgbClr val="1B2B2B"/>
                </a:solidFill>
                <a:latin typeface="Cambria" pitchFamily="34" charset="0"/>
                <a:ea typeface="Cambria" pitchFamily="34" charset="-122"/>
                <a:cs typeface="Cambria" pitchFamily="34" charset="-120"/>
              </a:rPr>
              <a:t>Break it on purpose, safely</a:t>
            </a:r>
            <a:endParaRPr lang="en-US" sz="2700" dirty="0"/>
          </a:p>
        </p:txBody>
      </p:sp>
      <p:sp>
        <p:nvSpPr>
          <p:cNvPr id="7" name="Shape 4"/>
          <p:cNvSpPr/>
          <p:nvPr/>
        </p:nvSpPr>
        <p:spPr>
          <a:xfrm>
            <a:off x="3657600" y="2606040"/>
            <a:ext cx="502920" cy="36576"/>
          </a:xfrm>
          <a:prstGeom prst="rect">
            <a:avLst/>
          </a:prstGeom>
          <a:solidFill>
            <a:srgbClr val="D8552F"/>
          </a:solidFill>
          <a:ln/>
        </p:spPr>
      </p:sp>
      <p:sp>
        <p:nvSpPr>
          <p:cNvPr id="8" name="Text 5"/>
          <p:cNvSpPr/>
          <p:nvPr/>
        </p:nvSpPr>
        <p:spPr>
          <a:xfrm>
            <a:off x="3657600" y="2880360"/>
            <a:ext cx="7955280" cy="3017520"/>
          </a:xfrm>
          <a:prstGeom prst="rect">
            <a:avLst/>
          </a:prstGeom>
          <a:noFill/>
          <a:ln/>
        </p:spPr>
        <p:txBody>
          <a:bodyPr wrap="square" lIns="0" tIns="0" rIns="0" bIns="0" rtlCol="0" anchor="ctr"/>
          <a:lstStyle/>
          <a:p>
            <a:pPr algn="l" indent="0" marL="0">
              <a:lnSpc>
                <a:spcPct val="135000"/>
              </a:lnSpc>
              <a:buNone/>
            </a:pPr>
            <a:r>
              <a:rPr lang="en-US" sz="1550" dirty="0">
                <a:solidFill>
                  <a:srgbClr val="1B2B2B"/>
                </a:solidFill>
                <a:latin typeface="Calibri" pitchFamily="34" charset="0"/>
                <a:ea typeface="Calibri" pitchFamily="34" charset="-122"/>
                <a:cs typeface="Calibri" pitchFamily="34" charset="-120"/>
              </a:rPr>
              <a:t>To prove the system actually works, we needed real problems to detect. We built tools that deliberately inject both failure modes in a controlled way — one scrambles a portion of the data's “language,” the other hammers the database with adds and deletes. Like a hospital running a fire drill instead of waiting for a real fire.</a:t>
            </a:r>
            <a:endParaRPr lang="en-US" sz="155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6858000"/>
          </a:xfrm>
          <a:prstGeom prst="rect">
            <a:avLst/>
          </a:prstGeom>
          <a:solidFill>
            <a:srgbClr val="6A4C93">
              <a:alpha val="10000"/>
            </a:srgbClr>
          </a:solidFill>
          <a:ln/>
        </p:spPr>
      </p:sp>
      <p:sp>
        <p:nvSpPr>
          <p:cNvPr id="3" name="Shape 1"/>
          <p:cNvSpPr/>
          <p:nvPr/>
        </p:nvSpPr>
        <p:spPr>
          <a:xfrm>
            <a:off x="1051560" y="2194560"/>
            <a:ext cx="1234440" cy="1234440"/>
          </a:xfrm>
          <a:prstGeom prst="ellipse">
            <a:avLst/>
          </a:prstGeom>
          <a:solidFill>
            <a:srgbClr val="6A4C93"/>
          </a:solidFill>
          <a:ln/>
        </p:spPr>
      </p:sp>
      <p:pic>
        <p:nvPicPr>
          <p:cNvPr id="4" name="Image 0" descr="/home/claude/pitch_deck/icons/search.png">    </p:cNvPr>
          <p:cNvPicPr>
            <a:picLocks noChangeAspect="1"/>
          </p:cNvPicPr>
          <p:nvPr/>
        </p:nvPicPr>
        <p:blipFill>
          <a:blip r:embed="rId1"/>
          <a:stretch>
            <a:fillRect/>
          </a:stretch>
        </p:blipFill>
        <p:spPr>
          <a:xfrm>
            <a:off x="1199693" y="2342693"/>
            <a:ext cx="938174" cy="938174"/>
          </a:xfrm>
          <a:prstGeom prst="rect">
            <a:avLst/>
          </a:prstGeom>
        </p:spPr>
      </p:pic>
      <p:sp>
        <p:nvSpPr>
          <p:cNvPr id="5" name="Text 2"/>
          <p:cNvSpPr/>
          <p:nvPr/>
        </p:nvSpPr>
        <p:spPr>
          <a:xfrm>
            <a:off x="365760" y="3657600"/>
            <a:ext cx="2377440" cy="274320"/>
          </a:xfrm>
          <a:prstGeom prst="rect">
            <a:avLst/>
          </a:prstGeom>
          <a:noFill/>
          <a:ln/>
        </p:spPr>
        <p:txBody>
          <a:bodyPr wrap="square" lIns="0" tIns="0" rIns="0" bIns="0" rtlCol="0" anchor="ctr"/>
          <a:lstStyle/>
          <a:p>
            <a:pPr algn="ctr" indent="0" marL="0">
              <a:buNone/>
            </a:pPr>
            <a:r>
              <a:rPr lang="en-US" sz="1100" b="1" spc="150" kern="0" dirty="0">
                <a:solidFill>
                  <a:srgbClr val="6A4C93"/>
                </a:solidFill>
                <a:latin typeface="Calibri" pitchFamily="34" charset="0"/>
                <a:ea typeface="Calibri" pitchFamily="34" charset="-122"/>
                <a:cs typeface="Calibri" pitchFamily="34" charset="-120"/>
              </a:rPr>
              <a:t>STAGE 4 OF 7</a:t>
            </a:r>
            <a:endParaRPr lang="en-US" sz="1100" dirty="0"/>
          </a:p>
        </p:txBody>
      </p:sp>
      <p:sp>
        <p:nvSpPr>
          <p:cNvPr id="6" name="Text 3"/>
          <p:cNvSpPr/>
          <p:nvPr/>
        </p:nvSpPr>
        <p:spPr>
          <a:xfrm>
            <a:off x="3657600" y="1554480"/>
            <a:ext cx="7955280" cy="1051560"/>
          </a:xfrm>
          <a:prstGeom prst="rect">
            <a:avLst/>
          </a:prstGeom>
          <a:noFill/>
          <a:ln/>
        </p:spPr>
        <p:txBody>
          <a:bodyPr wrap="square" lIns="0" tIns="0" rIns="0" bIns="0" rtlCol="0" anchor="ctr"/>
          <a:lstStyle/>
          <a:p>
            <a:pPr indent="0" marL="0">
              <a:buNone/>
            </a:pPr>
            <a:r>
              <a:rPr lang="en-US" sz="2700" b="1" dirty="0">
                <a:solidFill>
                  <a:srgbClr val="1B2B2B"/>
                </a:solidFill>
                <a:latin typeface="Cambria" pitchFamily="34" charset="0"/>
                <a:ea typeface="Cambria" pitchFamily="34" charset="-122"/>
                <a:cs typeface="Cambria" pitchFamily="34" charset="-120"/>
              </a:rPr>
              <a:t>Teach it to tell the two problems apart</a:t>
            </a:r>
            <a:endParaRPr lang="en-US" sz="2700" dirty="0"/>
          </a:p>
        </p:txBody>
      </p:sp>
      <p:sp>
        <p:nvSpPr>
          <p:cNvPr id="7" name="Shape 4"/>
          <p:cNvSpPr/>
          <p:nvPr/>
        </p:nvSpPr>
        <p:spPr>
          <a:xfrm>
            <a:off x="3657600" y="2606040"/>
            <a:ext cx="502920" cy="36576"/>
          </a:xfrm>
          <a:prstGeom prst="rect">
            <a:avLst/>
          </a:prstGeom>
          <a:solidFill>
            <a:srgbClr val="6A4C93"/>
          </a:solidFill>
          <a:ln/>
        </p:spPr>
      </p:sp>
      <p:sp>
        <p:nvSpPr>
          <p:cNvPr id="8" name="Text 5"/>
          <p:cNvSpPr/>
          <p:nvPr/>
        </p:nvSpPr>
        <p:spPr>
          <a:xfrm>
            <a:off x="3657600" y="2880360"/>
            <a:ext cx="7955280" cy="3017520"/>
          </a:xfrm>
          <a:prstGeom prst="rect">
            <a:avLst/>
          </a:prstGeom>
          <a:noFill/>
          <a:ln/>
        </p:spPr>
        <p:txBody>
          <a:bodyPr wrap="square" lIns="0" tIns="0" rIns="0" bIns="0" rtlCol="0" anchor="ctr"/>
          <a:lstStyle/>
          <a:p>
            <a:pPr algn="l" indent="0" marL="0">
              <a:lnSpc>
                <a:spcPct val="135000"/>
              </a:lnSpc>
              <a:buNone/>
            </a:pPr>
            <a:r>
              <a:rPr lang="en-US" sz="1550" dirty="0">
                <a:solidFill>
                  <a:srgbClr val="1B2B2B"/>
                </a:solidFill>
                <a:latin typeface="Calibri" pitchFamily="34" charset="0"/>
                <a:ea typeface="Calibri" pitchFamily="34" charset="-122"/>
                <a:cs typeface="Calibri" pitchFamily="34" charset="-120"/>
              </a:rPr>
              <a:t>Both problems look similar on the surface — “results got worse” — but they have different fingerprints. Worse results plus outdated “language” means the model-mismatch problem. Worse results plus digital clutter means the stale-map problem. Simple, transparent if-this-then-that logic reads these fingerprints and identifies which one occurred.</a:t>
            </a:r>
            <a:endParaRPr lang="en-US" sz="155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6858000"/>
          </a:xfrm>
          <a:prstGeom prst="rect">
            <a:avLst/>
          </a:prstGeom>
          <a:solidFill>
            <a:srgbClr val="00A896">
              <a:alpha val="10000"/>
            </a:srgbClr>
          </a:solidFill>
          <a:ln/>
        </p:spPr>
      </p:sp>
      <p:sp>
        <p:nvSpPr>
          <p:cNvPr id="3" name="Shape 1"/>
          <p:cNvSpPr/>
          <p:nvPr/>
        </p:nvSpPr>
        <p:spPr>
          <a:xfrm>
            <a:off x="1051560" y="2194560"/>
            <a:ext cx="1234440" cy="1234440"/>
          </a:xfrm>
          <a:prstGeom prst="ellipse">
            <a:avLst/>
          </a:prstGeom>
          <a:solidFill>
            <a:srgbClr val="00A896"/>
          </a:solidFill>
          <a:ln/>
        </p:spPr>
      </p:sp>
      <p:pic>
        <p:nvPicPr>
          <p:cNvPr id="4" name="Image 0" descr="/home/claude/pitch_deck/icons/wrench.png">    </p:cNvPr>
          <p:cNvPicPr>
            <a:picLocks noChangeAspect="1"/>
          </p:cNvPicPr>
          <p:nvPr/>
        </p:nvPicPr>
        <p:blipFill>
          <a:blip r:embed="rId1"/>
          <a:stretch>
            <a:fillRect/>
          </a:stretch>
        </p:blipFill>
        <p:spPr>
          <a:xfrm>
            <a:off x="1199693" y="2342693"/>
            <a:ext cx="938174" cy="938174"/>
          </a:xfrm>
          <a:prstGeom prst="rect">
            <a:avLst/>
          </a:prstGeom>
        </p:spPr>
      </p:pic>
      <p:sp>
        <p:nvSpPr>
          <p:cNvPr id="5" name="Text 2"/>
          <p:cNvSpPr/>
          <p:nvPr/>
        </p:nvSpPr>
        <p:spPr>
          <a:xfrm>
            <a:off x="365760" y="3657600"/>
            <a:ext cx="2377440" cy="274320"/>
          </a:xfrm>
          <a:prstGeom prst="rect">
            <a:avLst/>
          </a:prstGeom>
          <a:noFill/>
          <a:ln/>
        </p:spPr>
        <p:txBody>
          <a:bodyPr wrap="square" lIns="0" tIns="0" rIns="0" bIns="0" rtlCol="0" anchor="ctr"/>
          <a:lstStyle/>
          <a:p>
            <a:pPr algn="ctr" indent="0" marL="0">
              <a:buNone/>
            </a:pPr>
            <a:r>
              <a:rPr lang="en-US" sz="1100" b="1" spc="150" kern="0" dirty="0">
                <a:solidFill>
                  <a:srgbClr val="00A896"/>
                </a:solidFill>
                <a:latin typeface="Calibri" pitchFamily="34" charset="0"/>
                <a:ea typeface="Calibri" pitchFamily="34" charset="-122"/>
                <a:cs typeface="Calibri" pitchFamily="34" charset="-120"/>
              </a:rPr>
              <a:t>STAGE 5 OF 7</a:t>
            </a:r>
            <a:endParaRPr lang="en-US" sz="1100" dirty="0"/>
          </a:p>
        </p:txBody>
      </p:sp>
      <p:sp>
        <p:nvSpPr>
          <p:cNvPr id="6" name="Text 3"/>
          <p:cNvSpPr/>
          <p:nvPr/>
        </p:nvSpPr>
        <p:spPr>
          <a:xfrm>
            <a:off x="3657600" y="1554480"/>
            <a:ext cx="7955280" cy="1051560"/>
          </a:xfrm>
          <a:prstGeom prst="rect">
            <a:avLst/>
          </a:prstGeom>
          <a:noFill/>
          <a:ln/>
        </p:spPr>
        <p:txBody>
          <a:bodyPr wrap="square" lIns="0" tIns="0" rIns="0" bIns="0" rtlCol="0" anchor="ctr"/>
          <a:lstStyle/>
          <a:p>
            <a:pPr indent="0" marL="0">
              <a:buNone/>
            </a:pPr>
            <a:r>
              <a:rPr lang="en-US" sz="2700" b="1" dirty="0">
                <a:solidFill>
                  <a:srgbClr val="1B2B2B"/>
                </a:solidFill>
                <a:latin typeface="Cambria" pitchFamily="34" charset="0"/>
                <a:ea typeface="Cambria" pitchFamily="34" charset="-122"/>
                <a:cs typeface="Cambria" pitchFamily="34" charset="-120"/>
              </a:rPr>
              <a:t>Fix only what's broken</a:t>
            </a:r>
            <a:endParaRPr lang="en-US" sz="2700" dirty="0"/>
          </a:p>
        </p:txBody>
      </p:sp>
      <p:sp>
        <p:nvSpPr>
          <p:cNvPr id="7" name="Shape 4"/>
          <p:cNvSpPr/>
          <p:nvPr/>
        </p:nvSpPr>
        <p:spPr>
          <a:xfrm>
            <a:off x="3657600" y="2606040"/>
            <a:ext cx="502920" cy="36576"/>
          </a:xfrm>
          <a:prstGeom prst="rect">
            <a:avLst/>
          </a:prstGeom>
          <a:solidFill>
            <a:srgbClr val="00A896"/>
          </a:solidFill>
          <a:ln/>
        </p:spPr>
      </p:sp>
      <p:sp>
        <p:nvSpPr>
          <p:cNvPr id="8" name="Text 5"/>
          <p:cNvSpPr/>
          <p:nvPr/>
        </p:nvSpPr>
        <p:spPr>
          <a:xfrm>
            <a:off x="3657600" y="2880360"/>
            <a:ext cx="7955280" cy="3017520"/>
          </a:xfrm>
          <a:prstGeom prst="rect">
            <a:avLst/>
          </a:prstGeom>
          <a:noFill/>
          <a:ln/>
        </p:spPr>
        <p:txBody>
          <a:bodyPr wrap="square" lIns="0" tIns="0" rIns="0" bIns="0" rtlCol="0" anchor="ctr"/>
          <a:lstStyle/>
          <a:p>
            <a:pPr algn="l" indent="0" marL="0">
              <a:lnSpc>
                <a:spcPct val="135000"/>
              </a:lnSpc>
              <a:buNone/>
            </a:pPr>
            <a:r>
              <a:rPr lang="en-US" sz="1550" dirty="0">
                <a:solidFill>
                  <a:srgbClr val="1B2B2B"/>
                </a:solidFill>
                <a:latin typeface="Calibri" pitchFamily="34" charset="0"/>
                <a:ea typeface="Calibri" pitchFamily="34" charset="-122"/>
                <a:cs typeface="Calibri" pitchFamily="34" charset="-120"/>
              </a:rPr>
              <a:t>Once diagnosed, the system applies the right, narrow fix: re-translate only the outdated data into the current language, or clean up only the stale part of the search-shortcut map — never both, never everything, unless both problems are actually present.</a:t>
            </a:r>
            <a:endParaRPr lang="en-US" sz="155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6858000"/>
          </a:xfrm>
          <a:prstGeom prst="rect">
            <a:avLst/>
          </a:prstGeom>
          <a:solidFill>
            <a:srgbClr val="C97A2B">
              <a:alpha val="10000"/>
            </a:srgbClr>
          </a:solidFill>
          <a:ln/>
        </p:spPr>
      </p:sp>
      <p:sp>
        <p:nvSpPr>
          <p:cNvPr id="3" name="Shape 1"/>
          <p:cNvSpPr/>
          <p:nvPr/>
        </p:nvSpPr>
        <p:spPr>
          <a:xfrm>
            <a:off x="1051560" y="2194560"/>
            <a:ext cx="1234440" cy="1234440"/>
          </a:xfrm>
          <a:prstGeom prst="ellipse">
            <a:avLst/>
          </a:prstGeom>
          <a:solidFill>
            <a:srgbClr val="C97A2B"/>
          </a:solidFill>
          <a:ln/>
        </p:spPr>
      </p:sp>
      <p:pic>
        <p:nvPicPr>
          <p:cNvPr id="4" name="Image 0" descr="/home/claude/pitch_deck/icons/check.png">    </p:cNvPr>
          <p:cNvPicPr>
            <a:picLocks noChangeAspect="1"/>
          </p:cNvPicPr>
          <p:nvPr/>
        </p:nvPicPr>
        <p:blipFill>
          <a:blip r:embed="rId1"/>
          <a:stretch>
            <a:fillRect/>
          </a:stretch>
        </p:blipFill>
        <p:spPr>
          <a:xfrm>
            <a:off x="1199693" y="2342693"/>
            <a:ext cx="938174" cy="938174"/>
          </a:xfrm>
          <a:prstGeom prst="rect">
            <a:avLst/>
          </a:prstGeom>
        </p:spPr>
      </p:pic>
      <p:sp>
        <p:nvSpPr>
          <p:cNvPr id="5" name="Text 2"/>
          <p:cNvSpPr/>
          <p:nvPr/>
        </p:nvSpPr>
        <p:spPr>
          <a:xfrm>
            <a:off x="365760" y="3657600"/>
            <a:ext cx="2377440" cy="274320"/>
          </a:xfrm>
          <a:prstGeom prst="rect">
            <a:avLst/>
          </a:prstGeom>
          <a:noFill/>
          <a:ln/>
        </p:spPr>
        <p:txBody>
          <a:bodyPr wrap="square" lIns="0" tIns="0" rIns="0" bIns="0" rtlCol="0" anchor="ctr"/>
          <a:lstStyle/>
          <a:p>
            <a:pPr algn="ctr" indent="0" marL="0">
              <a:buNone/>
            </a:pPr>
            <a:r>
              <a:rPr lang="en-US" sz="1100" b="1" spc="150" kern="0" dirty="0">
                <a:solidFill>
                  <a:srgbClr val="C97A2B"/>
                </a:solidFill>
                <a:latin typeface="Calibri" pitchFamily="34" charset="0"/>
                <a:ea typeface="Calibri" pitchFamily="34" charset="-122"/>
                <a:cs typeface="Calibri" pitchFamily="34" charset="-120"/>
              </a:rPr>
              <a:t>STAGE 6 OF 7</a:t>
            </a:r>
            <a:endParaRPr lang="en-US" sz="1100" dirty="0"/>
          </a:p>
        </p:txBody>
      </p:sp>
      <p:sp>
        <p:nvSpPr>
          <p:cNvPr id="6" name="Text 3"/>
          <p:cNvSpPr/>
          <p:nvPr/>
        </p:nvSpPr>
        <p:spPr>
          <a:xfrm>
            <a:off x="3657600" y="1554480"/>
            <a:ext cx="7955280" cy="1051560"/>
          </a:xfrm>
          <a:prstGeom prst="rect">
            <a:avLst/>
          </a:prstGeom>
          <a:noFill/>
          <a:ln/>
        </p:spPr>
        <p:txBody>
          <a:bodyPr wrap="square" lIns="0" tIns="0" rIns="0" bIns="0" rtlCol="0" anchor="ctr"/>
          <a:lstStyle/>
          <a:p>
            <a:pPr indent="0" marL="0">
              <a:buNone/>
            </a:pPr>
            <a:r>
              <a:rPr lang="en-US" sz="2700" b="1" dirty="0">
                <a:solidFill>
                  <a:srgbClr val="1B2B2B"/>
                </a:solidFill>
                <a:latin typeface="Cambria" pitchFamily="34" charset="0"/>
                <a:ea typeface="Cambria" pitchFamily="34" charset="-122"/>
                <a:cs typeface="Cambria" pitchFamily="34" charset="-120"/>
              </a:rPr>
              <a:t>Don't trust the fix blindly</a:t>
            </a:r>
            <a:endParaRPr lang="en-US" sz="2700" dirty="0"/>
          </a:p>
        </p:txBody>
      </p:sp>
      <p:sp>
        <p:nvSpPr>
          <p:cNvPr id="7" name="Shape 4"/>
          <p:cNvSpPr/>
          <p:nvPr/>
        </p:nvSpPr>
        <p:spPr>
          <a:xfrm>
            <a:off x="3657600" y="2606040"/>
            <a:ext cx="502920" cy="36576"/>
          </a:xfrm>
          <a:prstGeom prst="rect">
            <a:avLst/>
          </a:prstGeom>
          <a:solidFill>
            <a:srgbClr val="C97A2B"/>
          </a:solidFill>
          <a:ln/>
        </p:spPr>
      </p:sp>
      <p:sp>
        <p:nvSpPr>
          <p:cNvPr id="8" name="Text 5"/>
          <p:cNvSpPr/>
          <p:nvPr/>
        </p:nvSpPr>
        <p:spPr>
          <a:xfrm>
            <a:off x="3657600" y="2880360"/>
            <a:ext cx="7955280" cy="3017520"/>
          </a:xfrm>
          <a:prstGeom prst="rect">
            <a:avLst/>
          </a:prstGeom>
          <a:noFill/>
          <a:ln/>
        </p:spPr>
        <p:txBody>
          <a:bodyPr wrap="square" lIns="0" tIns="0" rIns="0" bIns="0" rtlCol="0" anchor="ctr"/>
          <a:lstStyle/>
          <a:p>
            <a:pPr algn="l" indent="0" marL="0">
              <a:lnSpc>
                <a:spcPct val="135000"/>
              </a:lnSpc>
              <a:buNone/>
            </a:pPr>
            <a:r>
              <a:rPr lang="en-US" sz="1550" dirty="0">
                <a:solidFill>
                  <a:srgbClr val="1B2B2B"/>
                </a:solidFill>
                <a:latin typeface="Calibri" pitchFamily="34" charset="0"/>
                <a:ea typeface="Calibri" pitchFamily="34" charset="-122"/>
                <a:cs typeface="Calibri" pitchFamily="34" charset="-120"/>
              </a:rPr>
              <a:t>After any repair, the system re-asks the exact same test questions from Stage 1 before declaring success. If the fix actually restored quality, it goes live. If it didn't, the system rejects its own fix and keeps the old, working version. This is what separates “self-healing” from “self-guessing.”</a:t>
            </a:r>
            <a:endParaRPr lang="en-US" sz="155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6858000"/>
          </a:xfrm>
          <a:prstGeom prst="rect">
            <a:avLst/>
          </a:prstGeom>
          <a:solidFill>
            <a:srgbClr val="4A5FBF">
              <a:alpha val="10000"/>
            </a:srgbClr>
          </a:solidFill>
          <a:ln/>
        </p:spPr>
      </p:sp>
      <p:sp>
        <p:nvSpPr>
          <p:cNvPr id="3" name="Shape 1"/>
          <p:cNvSpPr/>
          <p:nvPr/>
        </p:nvSpPr>
        <p:spPr>
          <a:xfrm>
            <a:off x="1051560" y="2194560"/>
            <a:ext cx="1234440" cy="1234440"/>
          </a:xfrm>
          <a:prstGeom prst="ellipse">
            <a:avLst/>
          </a:prstGeom>
          <a:solidFill>
            <a:srgbClr val="4A5FBF"/>
          </a:solidFill>
          <a:ln/>
        </p:spPr>
      </p:sp>
      <p:pic>
        <p:nvPicPr>
          <p:cNvPr id="4" name="Image 0" descr="/home/claude/pitch_deck/icons/balance.png">    </p:cNvPr>
          <p:cNvPicPr>
            <a:picLocks noChangeAspect="1"/>
          </p:cNvPicPr>
          <p:nvPr/>
        </p:nvPicPr>
        <p:blipFill>
          <a:blip r:embed="rId1"/>
          <a:stretch>
            <a:fillRect/>
          </a:stretch>
        </p:blipFill>
        <p:spPr>
          <a:xfrm>
            <a:off x="1199693" y="2342693"/>
            <a:ext cx="938174" cy="938174"/>
          </a:xfrm>
          <a:prstGeom prst="rect">
            <a:avLst/>
          </a:prstGeom>
        </p:spPr>
      </p:pic>
      <p:sp>
        <p:nvSpPr>
          <p:cNvPr id="5" name="Text 2"/>
          <p:cNvSpPr/>
          <p:nvPr/>
        </p:nvSpPr>
        <p:spPr>
          <a:xfrm>
            <a:off x="365760" y="3657600"/>
            <a:ext cx="2377440" cy="274320"/>
          </a:xfrm>
          <a:prstGeom prst="rect">
            <a:avLst/>
          </a:prstGeom>
          <a:noFill/>
          <a:ln/>
        </p:spPr>
        <p:txBody>
          <a:bodyPr wrap="square" lIns="0" tIns="0" rIns="0" bIns="0" rtlCol="0" anchor="ctr"/>
          <a:lstStyle/>
          <a:p>
            <a:pPr algn="ctr" indent="0" marL="0">
              <a:buNone/>
            </a:pPr>
            <a:r>
              <a:rPr lang="en-US" sz="1100" b="1" spc="150" kern="0" dirty="0">
                <a:solidFill>
                  <a:srgbClr val="4A5FBF"/>
                </a:solidFill>
                <a:latin typeface="Calibri" pitchFamily="34" charset="0"/>
                <a:ea typeface="Calibri" pitchFamily="34" charset="-122"/>
                <a:cs typeface="Calibri" pitchFamily="34" charset="-120"/>
              </a:rPr>
              <a:t>STAGE 7 OF 7</a:t>
            </a:r>
            <a:endParaRPr lang="en-US" sz="1100" dirty="0"/>
          </a:p>
        </p:txBody>
      </p:sp>
      <p:sp>
        <p:nvSpPr>
          <p:cNvPr id="6" name="Text 3"/>
          <p:cNvSpPr/>
          <p:nvPr/>
        </p:nvSpPr>
        <p:spPr>
          <a:xfrm>
            <a:off x="3657600" y="1554480"/>
            <a:ext cx="7955280" cy="1051560"/>
          </a:xfrm>
          <a:prstGeom prst="rect">
            <a:avLst/>
          </a:prstGeom>
          <a:noFill/>
          <a:ln/>
        </p:spPr>
        <p:txBody>
          <a:bodyPr wrap="square" lIns="0" tIns="0" rIns="0" bIns="0" rtlCol="0" anchor="ctr"/>
          <a:lstStyle/>
          <a:p>
            <a:pPr indent="0" marL="0">
              <a:buNone/>
            </a:pPr>
            <a:r>
              <a:rPr lang="en-US" sz="2700" b="1" dirty="0">
                <a:solidFill>
                  <a:srgbClr val="1B2B2B"/>
                </a:solidFill>
                <a:latin typeface="Cambria" pitchFamily="34" charset="0"/>
                <a:ea typeface="Cambria" pitchFamily="34" charset="-122"/>
                <a:cs typeface="Cambria" pitchFamily="34" charset="-120"/>
              </a:rPr>
              <a:t>Prove it was worth building at all</a:t>
            </a:r>
            <a:endParaRPr lang="en-US" sz="2700" dirty="0"/>
          </a:p>
        </p:txBody>
      </p:sp>
      <p:sp>
        <p:nvSpPr>
          <p:cNvPr id="7" name="Shape 4"/>
          <p:cNvSpPr/>
          <p:nvPr/>
        </p:nvSpPr>
        <p:spPr>
          <a:xfrm>
            <a:off x="3657600" y="2606040"/>
            <a:ext cx="502920" cy="36576"/>
          </a:xfrm>
          <a:prstGeom prst="rect">
            <a:avLst/>
          </a:prstGeom>
          <a:solidFill>
            <a:srgbClr val="4A5FBF"/>
          </a:solidFill>
          <a:ln/>
        </p:spPr>
      </p:sp>
      <p:sp>
        <p:nvSpPr>
          <p:cNvPr id="8" name="Text 5"/>
          <p:cNvSpPr/>
          <p:nvPr/>
        </p:nvSpPr>
        <p:spPr>
          <a:xfrm>
            <a:off x="3657600" y="2880360"/>
            <a:ext cx="7955280" cy="3017520"/>
          </a:xfrm>
          <a:prstGeom prst="rect">
            <a:avLst/>
          </a:prstGeom>
          <a:noFill/>
          <a:ln/>
        </p:spPr>
        <p:txBody>
          <a:bodyPr wrap="square" lIns="0" tIns="0" rIns="0" bIns="0" rtlCol="0" anchor="ctr"/>
          <a:lstStyle/>
          <a:p>
            <a:pPr algn="l" indent="0" marL="0">
              <a:lnSpc>
                <a:spcPct val="135000"/>
              </a:lnSpc>
              <a:buNone/>
            </a:pPr>
            <a:r>
              <a:rPr lang="en-US" sz="1550" dirty="0">
                <a:solidFill>
                  <a:srgbClr val="1B2B2B"/>
                </a:solidFill>
                <a:latin typeface="Calibri" pitchFamily="34" charset="0"/>
                <a:ea typeface="Calibri" pitchFamily="34" charset="-122"/>
                <a:cs typeface="Calibri" pitchFamily="34" charset="-120"/>
              </a:rPr>
              <a:t>We run the exact same broken scenario two ways: once through our targeted fix-only-what's-broken pipeline, and once through the traditional “just rebuild everything” approach. We measure which is faster and touches less data. This comparison is the whole business case for the project.</a:t>
            </a:r>
            <a:endParaRPr lang="en-US" sz="155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28090"/>
          </a:solidFill>
          <a:ln/>
        </p:spPr>
      </p:sp>
      <p:pic>
        <p:nvPicPr>
          <p:cNvPr id="3" name="Image 0" descr="/home/claude/pitch_deck/icons/clipboard.png">    </p:cNvPr>
          <p:cNvPicPr>
            <a:picLocks noChangeAspect="1"/>
          </p:cNvPicPr>
          <p:nvPr/>
        </p:nvPicPr>
        <p:blipFill>
          <a:blip r:embed="rId1"/>
          <a:stretch>
            <a:fillRect/>
          </a:stretch>
        </p:blipFill>
        <p:spPr>
          <a:xfrm>
            <a:off x="568757" y="431597"/>
            <a:ext cx="416966" cy="416966"/>
          </a:xfrm>
          <a:prstGeom prst="rect">
            <a:avLst/>
          </a:prstGeom>
        </p:spPr>
      </p:pic>
      <p:sp>
        <p:nvSpPr>
          <p:cNvPr id="4" name="Text 1"/>
          <p:cNvSpPr/>
          <p:nvPr/>
        </p:nvSpPr>
        <p:spPr>
          <a:xfrm>
            <a:off x="1234440" y="384048"/>
            <a:ext cx="9144000" cy="274320"/>
          </a:xfrm>
          <a:prstGeom prst="rect">
            <a:avLst/>
          </a:prstGeom>
          <a:noFill/>
          <a:ln/>
        </p:spPr>
        <p:txBody>
          <a:bodyPr wrap="square" lIns="0" tIns="0" rIns="0" bIns="0" rtlCol="0" anchor="ctr"/>
          <a:lstStyle/>
          <a:p>
            <a:pPr indent="0" marL="0">
              <a:buNone/>
            </a:pPr>
            <a:r>
              <a:rPr lang="en-US" sz="1200" dirty="0">
                <a:solidFill>
                  <a:srgbClr val="5B6B6B"/>
                </a:solidFill>
                <a:latin typeface="Calibri" pitchFamily="34" charset="0"/>
                <a:ea typeface="Calibri" pitchFamily="34" charset="-122"/>
                <a:cs typeface="Calibri" pitchFamily="34" charset="-120"/>
              </a:rPr>
              <a:t>For the curious</a:t>
            </a:r>
            <a:endParaRPr lang="en-US" sz="1200" dirty="0"/>
          </a:p>
        </p:txBody>
      </p:sp>
      <p:sp>
        <p:nvSpPr>
          <p:cNvPr id="5" name="Text 2"/>
          <p:cNvSpPr/>
          <p:nvPr/>
        </p:nvSpPr>
        <p:spPr>
          <a:xfrm>
            <a:off x="1234440" y="621792"/>
            <a:ext cx="10241280" cy="548640"/>
          </a:xfrm>
          <a:prstGeom prst="rect">
            <a:avLst/>
          </a:prstGeom>
          <a:noFill/>
          <a:ln/>
        </p:spPr>
        <p:txBody>
          <a:bodyPr wrap="square" lIns="0" tIns="0" rIns="0" bIns="0" rtlCol="0" anchor="ctr"/>
          <a:lstStyle/>
          <a:p>
            <a:pPr indent="0" marL="0">
              <a:buNone/>
            </a:pPr>
            <a:r>
              <a:rPr lang="en-US" sz="2400" b="1" dirty="0">
                <a:solidFill>
                  <a:srgbClr val="1B2B2B"/>
                </a:solidFill>
                <a:latin typeface="Cambria" pitchFamily="34" charset="0"/>
                <a:ea typeface="Cambria" pitchFamily="34" charset="-122"/>
                <a:cs typeface="Cambria" pitchFamily="34" charset="-120"/>
              </a:rPr>
              <a:t>What's under the hood (barely-technical version)</a:t>
            </a:r>
            <a:endParaRPr lang="en-US" sz="2400" dirty="0"/>
          </a:p>
        </p:txBody>
      </p:sp>
      <p:sp>
        <p:nvSpPr>
          <p:cNvPr id="6" name="Shape 3"/>
          <p:cNvSpPr/>
          <p:nvPr/>
        </p:nvSpPr>
        <p:spPr>
          <a:xfrm>
            <a:off x="640080" y="1417320"/>
            <a:ext cx="685800" cy="685800"/>
          </a:xfrm>
          <a:prstGeom prst="ellipse">
            <a:avLst/>
          </a:prstGeom>
          <a:solidFill>
            <a:srgbClr val="028090"/>
          </a:solidFill>
          <a:ln/>
        </p:spPr>
      </p:sp>
      <p:pic>
        <p:nvPicPr>
          <p:cNvPr id="7" name="Image 1" descr="/home/claude/pitch_deck/icons/exchange.png">    </p:cNvPr>
          <p:cNvPicPr>
            <a:picLocks noChangeAspect="1"/>
          </p:cNvPicPr>
          <p:nvPr/>
        </p:nvPicPr>
        <p:blipFill>
          <a:blip r:embed="rId2"/>
          <a:stretch>
            <a:fillRect/>
          </a:stretch>
        </p:blipFill>
        <p:spPr>
          <a:xfrm>
            <a:off x="722376" y="1499616"/>
            <a:ext cx="521208" cy="521208"/>
          </a:xfrm>
          <a:prstGeom prst="rect">
            <a:avLst/>
          </a:prstGeom>
        </p:spPr>
      </p:pic>
      <p:sp>
        <p:nvSpPr>
          <p:cNvPr id="8" name="Text 4"/>
          <p:cNvSpPr/>
          <p:nvPr/>
        </p:nvSpPr>
        <p:spPr>
          <a:xfrm>
            <a:off x="1508760" y="1389888"/>
            <a:ext cx="4206240" cy="685800"/>
          </a:xfrm>
          <a:prstGeom prst="rect">
            <a:avLst/>
          </a:prstGeom>
          <a:noFill/>
          <a:ln/>
        </p:spPr>
        <p:txBody>
          <a:bodyPr wrap="square" lIns="0" tIns="0" rIns="0" bIns="0" rtlCol="0" anchor="ctr"/>
          <a:lstStyle/>
          <a:p>
            <a:pPr indent="0" marL="0">
              <a:buNone/>
            </a:pPr>
            <a:r>
              <a:rPr lang="en-US" sz="1450" b="1" dirty="0">
                <a:solidFill>
                  <a:srgbClr val="1B2B2B"/>
                </a:solidFill>
                <a:latin typeface="Calibri" pitchFamily="34" charset="0"/>
                <a:ea typeface="Calibri" pitchFamily="34" charset="-122"/>
                <a:cs typeface="Calibri" pitchFamily="34" charset="-120"/>
              </a:rPr>
              <a:t>Turning text into meaningful numbers</a:t>
            </a:r>
            <a:endParaRPr lang="en-US" sz="1450" dirty="0"/>
          </a:p>
        </p:txBody>
      </p:sp>
      <p:sp>
        <p:nvSpPr>
          <p:cNvPr id="9" name="Text 5"/>
          <p:cNvSpPr/>
          <p:nvPr/>
        </p:nvSpPr>
        <p:spPr>
          <a:xfrm>
            <a:off x="5806440" y="1371600"/>
            <a:ext cx="5715000" cy="960120"/>
          </a:xfrm>
          <a:prstGeom prst="rect">
            <a:avLst/>
          </a:prstGeom>
          <a:noFill/>
          <a:ln/>
        </p:spPr>
        <p:txBody>
          <a:bodyPr wrap="square" lIns="0" tIns="0" rIns="0" bIns="0" rtlCol="0" anchor="ctr"/>
          <a:lstStyle/>
          <a:p>
            <a:pPr indent="0" marL="0">
              <a:lnSpc>
                <a:spcPct val="120000"/>
              </a:lnSpc>
              <a:buNone/>
            </a:pPr>
            <a:r>
              <a:rPr lang="en-US" sz="1250" dirty="0">
                <a:solidFill>
                  <a:srgbClr val="5B6B6B"/>
                </a:solidFill>
                <a:latin typeface="Calibri" pitchFamily="34" charset="0"/>
                <a:ea typeface="Calibri" pitchFamily="34" charset="-122"/>
                <a:cs typeface="Calibri" pitchFamily="34" charset="-120"/>
              </a:rPr>
              <a:t>A well-established technique looks at which words matter most, then compresses that into a short list of numbers capturing the topic, not the exact words. A stand-in for a full AI model — our dev setup has no internet access to download one, but the system doesn't care which method makes the numbers.</a:t>
            </a:r>
            <a:endParaRPr lang="en-US" sz="1250" dirty="0"/>
          </a:p>
        </p:txBody>
      </p:sp>
      <p:sp>
        <p:nvSpPr>
          <p:cNvPr id="10" name="Shape 6"/>
          <p:cNvSpPr/>
          <p:nvPr/>
        </p:nvSpPr>
        <p:spPr>
          <a:xfrm>
            <a:off x="640080" y="2624328"/>
            <a:ext cx="685800" cy="685800"/>
          </a:xfrm>
          <a:prstGeom prst="ellipse">
            <a:avLst/>
          </a:prstGeom>
          <a:solidFill>
            <a:srgbClr val="00A896"/>
          </a:solidFill>
          <a:ln/>
        </p:spPr>
      </p:sp>
      <p:pic>
        <p:nvPicPr>
          <p:cNvPr id="11" name="Image 2" descr="/home/claude/pitch_deck/icons/mapsigns.png">    </p:cNvPr>
          <p:cNvPicPr>
            <a:picLocks noChangeAspect="1"/>
          </p:cNvPicPr>
          <p:nvPr/>
        </p:nvPicPr>
        <p:blipFill>
          <a:blip r:embed="rId3"/>
          <a:stretch>
            <a:fillRect/>
          </a:stretch>
        </p:blipFill>
        <p:spPr>
          <a:xfrm>
            <a:off x="722376" y="2706624"/>
            <a:ext cx="521208" cy="521208"/>
          </a:xfrm>
          <a:prstGeom prst="rect">
            <a:avLst/>
          </a:prstGeom>
        </p:spPr>
      </p:pic>
      <p:sp>
        <p:nvSpPr>
          <p:cNvPr id="12" name="Text 7"/>
          <p:cNvSpPr/>
          <p:nvPr/>
        </p:nvSpPr>
        <p:spPr>
          <a:xfrm>
            <a:off x="1508760" y="2596896"/>
            <a:ext cx="4206240" cy="685800"/>
          </a:xfrm>
          <a:prstGeom prst="rect">
            <a:avLst/>
          </a:prstGeom>
          <a:noFill/>
          <a:ln/>
        </p:spPr>
        <p:txBody>
          <a:bodyPr wrap="square" lIns="0" tIns="0" rIns="0" bIns="0" rtlCol="0" anchor="ctr"/>
          <a:lstStyle/>
          <a:p>
            <a:pPr indent="0" marL="0">
              <a:buNone/>
            </a:pPr>
            <a:r>
              <a:rPr lang="en-US" sz="1450" b="1" dirty="0">
                <a:solidFill>
                  <a:srgbClr val="1B2B2B"/>
                </a:solidFill>
                <a:latin typeface="Calibri" pitchFamily="34" charset="0"/>
                <a:ea typeface="Calibri" pitchFamily="34" charset="-122"/>
                <a:cs typeface="Calibri" pitchFamily="34" charset="-120"/>
              </a:rPr>
              <a:t>Fast search shortcuts</a:t>
            </a:r>
            <a:endParaRPr lang="en-US" sz="1450" dirty="0"/>
          </a:p>
        </p:txBody>
      </p:sp>
      <p:sp>
        <p:nvSpPr>
          <p:cNvPr id="13" name="Text 8"/>
          <p:cNvSpPr/>
          <p:nvPr/>
        </p:nvSpPr>
        <p:spPr>
          <a:xfrm>
            <a:off x="5806440" y="2578608"/>
            <a:ext cx="5715000" cy="960120"/>
          </a:xfrm>
          <a:prstGeom prst="rect">
            <a:avLst/>
          </a:prstGeom>
          <a:noFill/>
          <a:ln/>
        </p:spPr>
        <p:txBody>
          <a:bodyPr wrap="square" lIns="0" tIns="0" rIns="0" bIns="0" rtlCol="0" anchor="ctr"/>
          <a:lstStyle/>
          <a:p>
            <a:pPr indent="0" marL="0">
              <a:lnSpc>
                <a:spcPct val="120000"/>
              </a:lnSpc>
              <a:buNone/>
            </a:pPr>
            <a:r>
              <a:rPr lang="en-US" sz="1250" dirty="0">
                <a:solidFill>
                  <a:srgbClr val="5B6B6B"/>
                </a:solidFill>
                <a:latin typeface="Calibri" pitchFamily="34" charset="0"/>
                <a:ea typeface="Calibri" pitchFamily="34" charset="-122"/>
                <a:cs typeface="Calibri" pitchFamily="34" charset="-120"/>
              </a:rPr>
              <a:t>An industry-standard technique organizes data like a multi-level map — start broad, narrow down fast — instead of checking every record. This is also the exact thing that “rots” under heavy data churn, which is why it's the target of our staleness simulation and repair.</a:t>
            </a:r>
            <a:endParaRPr lang="en-US" sz="1250" dirty="0"/>
          </a:p>
        </p:txBody>
      </p:sp>
      <p:sp>
        <p:nvSpPr>
          <p:cNvPr id="14" name="Shape 9"/>
          <p:cNvSpPr/>
          <p:nvPr/>
        </p:nvSpPr>
        <p:spPr>
          <a:xfrm>
            <a:off x="640080" y="3831336"/>
            <a:ext cx="685800" cy="685800"/>
          </a:xfrm>
          <a:prstGeom prst="ellipse">
            <a:avLst/>
          </a:prstGeom>
          <a:solidFill>
            <a:srgbClr val="C97A2B"/>
          </a:solidFill>
          <a:ln/>
        </p:spPr>
      </p:sp>
      <p:pic>
        <p:nvPicPr>
          <p:cNvPr id="15" name="Image 3" descr="/home/claude/pitch_deck/icons/heartbeat.png">    </p:cNvPr>
          <p:cNvPicPr>
            <a:picLocks noChangeAspect="1"/>
          </p:cNvPicPr>
          <p:nvPr/>
        </p:nvPicPr>
        <p:blipFill>
          <a:blip r:embed="rId4"/>
          <a:stretch>
            <a:fillRect/>
          </a:stretch>
        </p:blipFill>
        <p:spPr>
          <a:xfrm>
            <a:off x="722376" y="3913632"/>
            <a:ext cx="521208" cy="521208"/>
          </a:xfrm>
          <a:prstGeom prst="rect">
            <a:avLst/>
          </a:prstGeom>
        </p:spPr>
      </p:pic>
      <p:sp>
        <p:nvSpPr>
          <p:cNvPr id="16" name="Text 10"/>
          <p:cNvSpPr/>
          <p:nvPr/>
        </p:nvSpPr>
        <p:spPr>
          <a:xfrm>
            <a:off x="1508760" y="3803904"/>
            <a:ext cx="4206240" cy="685800"/>
          </a:xfrm>
          <a:prstGeom prst="rect">
            <a:avLst/>
          </a:prstGeom>
          <a:noFill/>
          <a:ln/>
        </p:spPr>
        <p:txBody>
          <a:bodyPr wrap="square" lIns="0" tIns="0" rIns="0" bIns="0" rtlCol="0" anchor="ctr"/>
          <a:lstStyle/>
          <a:p>
            <a:pPr indent="0" marL="0">
              <a:buNone/>
            </a:pPr>
            <a:r>
              <a:rPr lang="en-US" sz="1450" b="1" dirty="0">
                <a:solidFill>
                  <a:srgbClr val="1B2B2B"/>
                </a:solidFill>
                <a:latin typeface="Calibri" pitchFamily="34" charset="0"/>
                <a:ea typeface="Calibri" pitchFamily="34" charset="-122"/>
                <a:cs typeface="Calibri" pitchFamily="34" charset="-120"/>
              </a:rPr>
              <a:t>Scoring “how healthy is the search”</a:t>
            </a:r>
            <a:endParaRPr lang="en-US" sz="1450" dirty="0"/>
          </a:p>
        </p:txBody>
      </p:sp>
      <p:sp>
        <p:nvSpPr>
          <p:cNvPr id="17" name="Text 11"/>
          <p:cNvSpPr/>
          <p:nvPr/>
        </p:nvSpPr>
        <p:spPr>
          <a:xfrm>
            <a:off x="5806440" y="3785616"/>
            <a:ext cx="5715000" cy="960120"/>
          </a:xfrm>
          <a:prstGeom prst="rect">
            <a:avLst/>
          </a:prstGeom>
          <a:noFill/>
          <a:ln/>
        </p:spPr>
        <p:txBody>
          <a:bodyPr wrap="square" lIns="0" tIns="0" rIns="0" bIns="0" rtlCol="0" anchor="ctr"/>
          <a:lstStyle/>
          <a:p>
            <a:pPr indent="0" marL="0">
              <a:lnSpc>
                <a:spcPct val="120000"/>
              </a:lnSpc>
              <a:buNone/>
            </a:pPr>
            <a:r>
              <a:rPr lang="en-US" sz="1250" dirty="0">
                <a:solidFill>
                  <a:srgbClr val="5B6B6B"/>
                </a:solidFill>
                <a:latin typeface="Calibri" pitchFamily="34" charset="0"/>
                <a:ea typeface="Calibri" pitchFamily="34" charset="-122"/>
                <a:cs typeface="Calibri" pitchFamily="34" charset="-120"/>
              </a:rPr>
              <a:t>A simple, standard measure: out of the answers we expected, how many did we actually get back? This single number is the heartbeat of the entire monitoring system.</a:t>
            </a:r>
            <a:endParaRPr lang="en-US" sz="1250" dirty="0"/>
          </a:p>
        </p:txBody>
      </p:sp>
      <p:sp>
        <p:nvSpPr>
          <p:cNvPr id="18" name="Shape 12"/>
          <p:cNvSpPr/>
          <p:nvPr/>
        </p:nvSpPr>
        <p:spPr>
          <a:xfrm>
            <a:off x="640080" y="5038344"/>
            <a:ext cx="685800" cy="685800"/>
          </a:xfrm>
          <a:prstGeom prst="ellipse">
            <a:avLst/>
          </a:prstGeom>
          <a:solidFill>
            <a:srgbClr val="6A4C93"/>
          </a:solidFill>
          <a:ln/>
        </p:spPr>
      </p:sp>
      <p:pic>
        <p:nvPicPr>
          <p:cNvPr id="19" name="Image 4" descr="/home/claude/pitch_deck/icons/search.png">    </p:cNvPr>
          <p:cNvPicPr>
            <a:picLocks noChangeAspect="1"/>
          </p:cNvPicPr>
          <p:nvPr/>
        </p:nvPicPr>
        <p:blipFill>
          <a:blip r:embed="rId5"/>
          <a:stretch>
            <a:fillRect/>
          </a:stretch>
        </p:blipFill>
        <p:spPr>
          <a:xfrm>
            <a:off x="722376" y="5120640"/>
            <a:ext cx="521208" cy="521208"/>
          </a:xfrm>
          <a:prstGeom prst="rect">
            <a:avLst/>
          </a:prstGeom>
        </p:spPr>
      </p:pic>
      <p:sp>
        <p:nvSpPr>
          <p:cNvPr id="20" name="Text 13"/>
          <p:cNvSpPr/>
          <p:nvPr/>
        </p:nvSpPr>
        <p:spPr>
          <a:xfrm>
            <a:off x="1508760" y="5010912"/>
            <a:ext cx="4206240" cy="685800"/>
          </a:xfrm>
          <a:prstGeom prst="rect">
            <a:avLst/>
          </a:prstGeom>
          <a:noFill/>
          <a:ln/>
        </p:spPr>
        <p:txBody>
          <a:bodyPr wrap="square" lIns="0" tIns="0" rIns="0" bIns="0" rtlCol="0" anchor="ctr"/>
          <a:lstStyle/>
          <a:p>
            <a:pPr indent="0" marL="0">
              <a:buNone/>
            </a:pPr>
            <a:r>
              <a:rPr lang="en-US" sz="1450" b="1" dirty="0">
                <a:solidFill>
                  <a:srgbClr val="1B2B2B"/>
                </a:solidFill>
                <a:latin typeface="Calibri" pitchFamily="34" charset="0"/>
                <a:ea typeface="Calibri" pitchFamily="34" charset="-122"/>
                <a:cs typeface="Calibri" pitchFamily="34" charset="-120"/>
              </a:rPr>
              <a:t>The decision logic</a:t>
            </a:r>
            <a:endParaRPr lang="en-US" sz="1450" dirty="0"/>
          </a:p>
        </p:txBody>
      </p:sp>
      <p:sp>
        <p:nvSpPr>
          <p:cNvPr id="21" name="Text 14"/>
          <p:cNvSpPr/>
          <p:nvPr/>
        </p:nvSpPr>
        <p:spPr>
          <a:xfrm>
            <a:off x="5806440" y="4992624"/>
            <a:ext cx="5715000" cy="960120"/>
          </a:xfrm>
          <a:prstGeom prst="rect">
            <a:avLst/>
          </a:prstGeom>
          <a:noFill/>
          <a:ln/>
        </p:spPr>
        <p:txBody>
          <a:bodyPr wrap="square" lIns="0" tIns="0" rIns="0" bIns="0" rtlCol="0" anchor="ctr"/>
          <a:lstStyle/>
          <a:p>
            <a:pPr indent="0" marL="0">
              <a:lnSpc>
                <a:spcPct val="120000"/>
              </a:lnSpc>
              <a:buNone/>
            </a:pPr>
            <a:r>
              <a:rPr lang="en-US" sz="1250" dirty="0">
                <a:solidFill>
                  <a:srgbClr val="5B6B6B"/>
                </a:solidFill>
                <a:latin typeface="Calibri" pitchFamily="34" charset="0"/>
                <a:ea typeface="Calibri" pitchFamily="34" charset="-122"/>
                <a:cs typeface="Calibri" pitchFamily="34" charset="-120"/>
              </a:rPr>
              <a:t>Plain if-then rules, not machine learning — deliberately. The interesting engineering problem isn't building a smart classifier, it's building the full closed loop around a simple, reliable one.</a:t>
            </a:r>
            <a:endParaRPr lang="en-US" sz="1250" dirty="0"/>
          </a:p>
        </p:txBody>
      </p:sp>
      <p:sp>
        <p:nvSpPr>
          <p:cNvPr id="22"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23" name="Text 1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2C39A"/>
          </a:solidFill>
          <a:ln/>
        </p:spPr>
      </p:sp>
      <p:pic>
        <p:nvPicPr>
          <p:cNvPr id="3" name="Image 0" descr="/home/claude/pitch_deck/icons/check.png">    </p:cNvPr>
          <p:cNvPicPr>
            <a:picLocks noChangeAspect="1"/>
          </p:cNvPicPr>
          <p:nvPr/>
        </p:nvPicPr>
        <p:blipFill>
          <a:blip r:embed="rId1"/>
          <a:stretch>
            <a:fillRect/>
          </a:stretch>
        </p:blipFill>
        <p:spPr>
          <a:xfrm>
            <a:off x="568757" y="431597"/>
            <a:ext cx="416966" cy="416966"/>
          </a:xfrm>
          <a:prstGeom prst="rect">
            <a:avLst/>
          </a:prstGeom>
        </p:spPr>
      </p:pic>
      <p:sp>
        <p:nvSpPr>
          <p:cNvPr id="4" name="Text 1"/>
          <p:cNvSpPr/>
          <p:nvPr/>
        </p:nvSpPr>
        <p:spPr>
          <a:xfrm>
            <a:off x="1234440" y="384048"/>
            <a:ext cx="9144000" cy="274320"/>
          </a:xfrm>
          <a:prstGeom prst="rect">
            <a:avLst/>
          </a:prstGeom>
          <a:noFill/>
          <a:ln/>
        </p:spPr>
        <p:txBody>
          <a:bodyPr wrap="square" lIns="0" tIns="0" rIns="0" bIns="0" rtlCol="0" anchor="ctr"/>
          <a:lstStyle/>
          <a:p>
            <a:pPr indent="0" marL="0">
              <a:buNone/>
            </a:pPr>
            <a:r>
              <a:rPr lang="en-US" sz="1200" dirty="0">
                <a:solidFill>
                  <a:srgbClr val="5B6B6B"/>
                </a:solidFill>
                <a:latin typeface="Calibri" pitchFamily="34" charset="0"/>
                <a:ea typeface="Calibri" pitchFamily="34" charset="-122"/>
                <a:cs typeface="Calibri" pitchFamily="34" charset="-120"/>
              </a:rPr>
              <a:t>Status</a:t>
            </a:r>
            <a:endParaRPr lang="en-US" sz="1200" dirty="0"/>
          </a:p>
        </p:txBody>
      </p:sp>
      <p:sp>
        <p:nvSpPr>
          <p:cNvPr id="5" name="Text 2"/>
          <p:cNvSpPr/>
          <p:nvPr/>
        </p:nvSpPr>
        <p:spPr>
          <a:xfrm>
            <a:off x="1234440" y="621792"/>
            <a:ext cx="10241280" cy="548640"/>
          </a:xfrm>
          <a:prstGeom prst="rect">
            <a:avLst/>
          </a:prstGeom>
          <a:noFill/>
          <a:ln/>
        </p:spPr>
        <p:txBody>
          <a:bodyPr wrap="square" lIns="0" tIns="0" rIns="0" bIns="0" rtlCol="0" anchor="ctr"/>
          <a:lstStyle/>
          <a:p>
            <a:pPr indent="0" marL="0">
              <a:buNone/>
            </a:pPr>
            <a:r>
              <a:rPr lang="en-US" sz="2400" b="1" dirty="0">
                <a:solidFill>
                  <a:srgbClr val="1B2B2B"/>
                </a:solidFill>
                <a:latin typeface="Cambria" pitchFamily="34" charset="0"/>
                <a:ea typeface="Cambria" pitchFamily="34" charset="-122"/>
                <a:cs typeface="Cambria" pitchFamily="34" charset="-120"/>
              </a:rPr>
              <a:t>What we've actually built so far</a:t>
            </a:r>
            <a:endParaRPr lang="en-US" sz="2400" dirty="0"/>
          </a:p>
        </p:txBody>
      </p:sp>
      <p:sp>
        <p:nvSpPr>
          <p:cNvPr id="6" name="Shape 3"/>
          <p:cNvSpPr/>
          <p:nvPr/>
        </p:nvSpPr>
        <p:spPr>
          <a:xfrm>
            <a:off x="640080" y="1691640"/>
            <a:ext cx="10881360" cy="3200400"/>
          </a:xfrm>
          <a:prstGeom prst="roundRect">
            <a:avLst>
              <a:gd name="adj" fmla="val 2857"/>
            </a:avLst>
          </a:prstGeom>
          <a:solidFill>
            <a:srgbClr val="02C39A">
              <a:alpha val="10000"/>
            </a:srgbClr>
          </a:solidFill>
          <a:ln w="12700">
            <a:solidFill>
              <a:srgbClr val="02C39A"/>
            </a:solidFill>
            <a:prstDash val="solid"/>
          </a:ln>
        </p:spPr>
      </p:sp>
      <p:sp>
        <p:nvSpPr>
          <p:cNvPr id="7" name="Text 4"/>
          <p:cNvSpPr/>
          <p:nvPr/>
        </p:nvSpPr>
        <p:spPr>
          <a:xfrm>
            <a:off x="1005840" y="1965960"/>
            <a:ext cx="10149840" cy="1188720"/>
          </a:xfrm>
          <a:prstGeom prst="rect">
            <a:avLst/>
          </a:prstGeom>
          <a:noFill/>
          <a:ln/>
        </p:spPr>
        <p:txBody>
          <a:bodyPr wrap="square" lIns="0" tIns="0" rIns="0" bIns="0" rtlCol="0" anchor="ctr"/>
          <a:lstStyle/>
          <a:p>
            <a:pPr indent="0" marL="0">
              <a:lnSpc>
                <a:spcPct val="135000"/>
              </a:lnSpc>
              <a:buNone/>
            </a:pPr>
            <a:r>
              <a:rPr lang="en-US" sz="1900" i="1" dirty="0">
                <a:solidFill>
                  <a:srgbClr val="1B2B2B"/>
                </a:solidFill>
                <a:latin typeface="Cambria" pitchFamily="34" charset="0"/>
                <a:ea typeface="Cambria" pitchFamily="34" charset="-122"/>
                <a:cs typeface="Cambria" pitchFamily="34" charset="-120"/>
              </a:rPr>
              <a:t>This isn't a concept slide — we have a real, working small-scale version running: a real database, loaded with real search-ready data, tested against real questions, achieving a perfect baseline score with near-instant response times.</a:t>
            </a:r>
            <a:endParaRPr lang="en-US" sz="1900" dirty="0"/>
          </a:p>
        </p:txBody>
      </p:sp>
      <p:sp>
        <p:nvSpPr>
          <p:cNvPr id="8" name="Text 5"/>
          <p:cNvSpPr/>
          <p:nvPr/>
        </p:nvSpPr>
        <p:spPr>
          <a:xfrm>
            <a:off x="1005840" y="3291840"/>
            <a:ext cx="10149840" cy="640080"/>
          </a:xfrm>
          <a:prstGeom prst="rect">
            <a:avLst/>
          </a:prstGeom>
          <a:noFill/>
          <a:ln/>
        </p:spPr>
        <p:txBody>
          <a:bodyPr wrap="square" lIns="0" tIns="0" rIns="0" bIns="0" rtlCol="0" anchor="ctr"/>
          <a:lstStyle/>
          <a:p>
            <a:pPr indent="0" marL="0">
              <a:buNone/>
            </a:pPr>
            <a:r>
              <a:rPr lang="en-US" sz="1500" dirty="0">
                <a:solidFill>
                  <a:srgbClr val="5B6B6B"/>
                </a:solidFill>
                <a:latin typeface="Calibri" pitchFamily="34" charset="0"/>
                <a:ea typeface="Calibri" pitchFamily="34" charset="-122"/>
                <a:cs typeface="Calibri" pitchFamily="34" charset="-120"/>
              </a:rPr>
              <a:t>That “before” snapshot is locked in and ready to be compared against once we simulate the failures and run the repairs.</a:t>
            </a:r>
            <a:endParaRPr lang="en-US" sz="1500" dirty="0"/>
          </a:p>
        </p:txBody>
      </p:sp>
      <p:sp>
        <p:nvSpPr>
          <p:cNvPr id="9" name="Text 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4A5FBF"/>
          </a:solidFill>
          <a:ln/>
        </p:spPr>
      </p:sp>
      <p:pic>
        <p:nvPicPr>
          <p:cNvPr id="3" name="Image 0" descr="/home/claude/pitch_deck/icons/rocket.png">    </p:cNvPr>
          <p:cNvPicPr>
            <a:picLocks noChangeAspect="1"/>
          </p:cNvPicPr>
          <p:nvPr/>
        </p:nvPicPr>
        <p:blipFill>
          <a:blip r:embed="rId1"/>
          <a:stretch>
            <a:fillRect/>
          </a:stretch>
        </p:blipFill>
        <p:spPr>
          <a:xfrm>
            <a:off x="568757" y="431597"/>
            <a:ext cx="416966" cy="416966"/>
          </a:xfrm>
          <a:prstGeom prst="rect">
            <a:avLst/>
          </a:prstGeom>
        </p:spPr>
      </p:pic>
      <p:sp>
        <p:nvSpPr>
          <p:cNvPr id="4" name="Text 1"/>
          <p:cNvSpPr/>
          <p:nvPr/>
        </p:nvSpPr>
        <p:spPr>
          <a:xfrm>
            <a:off x="1234440" y="384048"/>
            <a:ext cx="9144000" cy="274320"/>
          </a:xfrm>
          <a:prstGeom prst="rect">
            <a:avLst/>
          </a:prstGeom>
          <a:noFill/>
          <a:ln/>
        </p:spPr>
        <p:txBody>
          <a:bodyPr wrap="square" lIns="0" tIns="0" rIns="0" bIns="0" rtlCol="0" anchor="ctr"/>
          <a:lstStyle/>
          <a:p>
            <a:pPr indent="0" marL="0">
              <a:buNone/>
            </a:pPr>
            <a:r>
              <a:rPr lang="en-US" sz="1200" dirty="0">
                <a:solidFill>
                  <a:srgbClr val="5B6B6B"/>
                </a:solidFill>
                <a:latin typeface="Calibri" pitchFamily="34" charset="0"/>
                <a:ea typeface="Calibri" pitchFamily="34" charset="-122"/>
                <a:cs typeface="Calibri" pitchFamily="34" charset="-120"/>
              </a:rPr>
              <a:t>Bigger picture</a:t>
            </a:r>
            <a:endParaRPr lang="en-US" sz="1200" dirty="0"/>
          </a:p>
        </p:txBody>
      </p:sp>
      <p:sp>
        <p:nvSpPr>
          <p:cNvPr id="5" name="Text 2"/>
          <p:cNvSpPr/>
          <p:nvPr/>
        </p:nvSpPr>
        <p:spPr>
          <a:xfrm>
            <a:off x="1234440" y="621792"/>
            <a:ext cx="10241280" cy="548640"/>
          </a:xfrm>
          <a:prstGeom prst="rect">
            <a:avLst/>
          </a:prstGeom>
          <a:noFill/>
          <a:ln/>
        </p:spPr>
        <p:txBody>
          <a:bodyPr wrap="square" lIns="0" tIns="0" rIns="0" bIns="0" rtlCol="0" anchor="ctr"/>
          <a:lstStyle/>
          <a:p>
            <a:pPr indent="0" marL="0">
              <a:buNone/>
            </a:pPr>
            <a:r>
              <a:rPr lang="en-US" sz="2400" b="1" dirty="0">
                <a:solidFill>
                  <a:srgbClr val="1B2B2B"/>
                </a:solidFill>
                <a:latin typeface="Cambria" pitchFamily="34" charset="0"/>
                <a:ea typeface="Cambria" pitchFamily="34" charset="-122"/>
                <a:cs typeface="Cambria" pitchFamily="34" charset="-120"/>
              </a:rPr>
              <a:t>Why this matters beyond a grade</a:t>
            </a:r>
            <a:endParaRPr lang="en-US" sz="2400" dirty="0"/>
          </a:p>
        </p:txBody>
      </p:sp>
      <p:sp>
        <p:nvSpPr>
          <p:cNvPr id="6" name="Shape 3"/>
          <p:cNvSpPr/>
          <p:nvPr/>
        </p:nvSpPr>
        <p:spPr>
          <a:xfrm>
            <a:off x="640080" y="1600200"/>
            <a:ext cx="411480" cy="411480"/>
          </a:xfrm>
          <a:prstGeom prst="ellipse">
            <a:avLst/>
          </a:prstGeom>
          <a:solidFill>
            <a:srgbClr val="4A5FBF"/>
          </a:solidFill>
          <a:ln/>
        </p:spPr>
      </p:sp>
      <p:sp>
        <p:nvSpPr>
          <p:cNvPr id="7" name="Text 4"/>
          <p:cNvSpPr/>
          <p:nvPr/>
        </p:nvSpPr>
        <p:spPr>
          <a:xfrm>
            <a:off x="640080" y="16002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p:nvPr/>
        </p:nvSpPr>
        <p:spPr>
          <a:xfrm>
            <a:off x="1234440" y="1554480"/>
            <a:ext cx="10058400" cy="365760"/>
          </a:xfrm>
          <a:prstGeom prst="rect">
            <a:avLst/>
          </a:prstGeom>
          <a:noFill/>
          <a:ln/>
        </p:spPr>
        <p:txBody>
          <a:bodyPr wrap="square" lIns="0" tIns="0" rIns="0" bIns="0" rtlCol="0" anchor="ctr"/>
          <a:lstStyle/>
          <a:p>
            <a:pPr indent="0" marL="0">
              <a:buNone/>
            </a:pPr>
            <a:r>
              <a:rPr lang="en-US" sz="1600" b="1" dirty="0">
                <a:solidFill>
                  <a:srgbClr val="1B2B2B"/>
                </a:solidFill>
                <a:latin typeface="Calibri" pitchFamily="34" charset="0"/>
                <a:ea typeface="Calibri" pitchFamily="34" charset="-122"/>
                <a:cs typeface="Calibri" pitchFamily="34" charset="-120"/>
              </a:rPr>
              <a:t>It mirrors a real, unsolved-at-small-scale problem</a:t>
            </a:r>
            <a:endParaRPr lang="en-US" sz="1600" dirty="0"/>
          </a:p>
        </p:txBody>
      </p:sp>
      <p:sp>
        <p:nvSpPr>
          <p:cNvPr id="9" name="Text 6"/>
          <p:cNvSpPr/>
          <p:nvPr/>
        </p:nvSpPr>
        <p:spPr>
          <a:xfrm>
            <a:off x="1234440" y="1920240"/>
            <a:ext cx="10058400" cy="685800"/>
          </a:xfrm>
          <a:prstGeom prst="rect">
            <a:avLst/>
          </a:prstGeom>
          <a:noFill/>
          <a:ln/>
        </p:spPr>
        <p:txBody>
          <a:bodyPr wrap="square" lIns="0" tIns="0" rIns="0" bIns="0" rtlCol="0" anchor="ctr"/>
          <a:lstStyle/>
          <a:p>
            <a:pPr indent="0" marL="0">
              <a:lnSpc>
                <a:spcPct val="125000"/>
              </a:lnSpc>
              <a:buNone/>
            </a:pPr>
            <a:r>
              <a:rPr lang="en-US" sz="1350" dirty="0">
                <a:solidFill>
                  <a:srgbClr val="5B6B6B"/>
                </a:solidFill>
                <a:latin typeface="Calibri" pitchFamily="34" charset="0"/>
                <a:ea typeface="Calibri" pitchFamily="34" charset="-122"/>
                <a:cs typeface="Calibri" pitchFamily="34" charset="-120"/>
              </a:rPr>
              <a:t>Big companies running AI search at scale deal with exactly this — model updates and data churn silently degrading search quality — and mostly handle it with manual intervention or brute-force rebuilds today.</a:t>
            </a:r>
            <a:endParaRPr lang="en-US" sz="1350" dirty="0"/>
          </a:p>
        </p:txBody>
      </p:sp>
      <p:sp>
        <p:nvSpPr>
          <p:cNvPr id="10" name="Shape 7"/>
          <p:cNvSpPr/>
          <p:nvPr/>
        </p:nvSpPr>
        <p:spPr>
          <a:xfrm>
            <a:off x="640080" y="3017520"/>
            <a:ext cx="411480" cy="411480"/>
          </a:xfrm>
          <a:prstGeom prst="ellipse">
            <a:avLst/>
          </a:prstGeom>
          <a:solidFill>
            <a:srgbClr val="4A5FBF"/>
          </a:solidFill>
          <a:ln/>
        </p:spPr>
      </p:sp>
      <p:sp>
        <p:nvSpPr>
          <p:cNvPr id="11" name="Text 8"/>
          <p:cNvSpPr/>
          <p:nvPr/>
        </p:nvSpPr>
        <p:spPr>
          <a:xfrm>
            <a:off x="640080" y="3017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p:nvPr/>
        </p:nvSpPr>
        <p:spPr>
          <a:xfrm>
            <a:off x="1234440" y="2971800"/>
            <a:ext cx="10058400" cy="365760"/>
          </a:xfrm>
          <a:prstGeom prst="rect">
            <a:avLst/>
          </a:prstGeom>
          <a:noFill/>
          <a:ln/>
        </p:spPr>
        <p:txBody>
          <a:bodyPr wrap="square" lIns="0" tIns="0" rIns="0" bIns="0" rtlCol="0" anchor="ctr"/>
          <a:lstStyle/>
          <a:p>
            <a:pPr indent="0" marL="0">
              <a:buNone/>
            </a:pPr>
            <a:r>
              <a:rPr lang="en-US" sz="1600" b="1" dirty="0">
                <a:solidFill>
                  <a:srgbClr val="1B2B2B"/>
                </a:solidFill>
                <a:latin typeface="Calibri" pitchFamily="34" charset="0"/>
                <a:ea typeface="Calibri" pitchFamily="34" charset="-122"/>
                <a:cs typeface="Calibri" pitchFamily="34" charset="-120"/>
              </a:rPr>
              <a:t>It's a strong resume story, not just coursework</a:t>
            </a:r>
            <a:endParaRPr lang="en-US" sz="1600" dirty="0"/>
          </a:p>
        </p:txBody>
      </p:sp>
      <p:sp>
        <p:nvSpPr>
          <p:cNvPr id="13" name="Text 10"/>
          <p:cNvSpPr/>
          <p:nvPr/>
        </p:nvSpPr>
        <p:spPr>
          <a:xfrm>
            <a:off x="1234440" y="3337560"/>
            <a:ext cx="10058400" cy="685800"/>
          </a:xfrm>
          <a:prstGeom prst="rect">
            <a:avLst/>
          </a:prstGeom>
          <a:noFill/>
          <a:ln/>
        </p:spPr>
        <p:txBody>
          <a:bodyPr wrap="square" lIns="0" tIns="0" rIns="0" bIns="0" rtlCol="0" anchor="ctr"/>
          <a:lstStyle/>
          <a:p>
            <a:pPr indent="0" marL="0">
              <a:lnSpc>
                <a:spcPct val="125000"/>
              </a:lnSpc>
              <a:buNone/>
            </a:pPr>
            <a:r>
              <a:rPr lang="en-US" sz="1350" dirty="0">
                <a:solidFill>
                  <a:srgbClr val="5B6B6B"/>
                </a:solidFill>
                <a:latin typeface="Calibri" pitchFamily="34" charset="0"/>
                <a:ea typeface="Calibri" pitchFamily="34" charset="-122"/>
                <a:cs typeface="Calibri" pitchFamily="34" charset="-120"/>
              </a:rPr>
              <a:t>“Built a monitoring and self-repair system for a production-grade database, and quantified the efficiency gain over the standard approach” is a concrete, defensible claim in an interview.</a:t>
            </a:r>
            <a:endParaRPr lang="en-US" sz="1350" dirty="0"/>
          </a:p>
        </p:txBody>
      </p:sp>
      <p:sp>
        <p:nvSpPr>
          <p:cNvPr id="14" name="Shape 11"/>
          <p:cNvSpPr/>
          <p:nvPr/>
        </p:nvSpPr>
        <p:spPr>
          <a:xfrm>
            <a:off x="640080" y="4434840"/>
            <a:ext cx="411480" cy="411480"/>
          </a:xfrm>
          <a:prstGeom prst="ellipse">
            <a:avLst/>
          </a:prstGeom>
          <a:solidFill>
            <a:srgbClr val="4A5FBF"/>
          </a:solidFill>
          <a:ln/>
        </p:spPr>
      </p:sp>
      <p:sp>
        <p:nvSpPr>
          <p:cNvPr id="15" name="Text 12"/>
          <p:cNvSpPr/>
          <p:nvPr/>
        </p:nvSpPr>
        <p:spPr>
          <a:xfrm>
            <a:off x="640080" y="44348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3"/>
          <p:cNvSpPr/>
          <p:nvPr/>
        </p:nvSpPr>
        <p:spPr>
          <a:xfrm>
            <a:off x="1234440" y="4389120"/>
            <a:ext cx="10058400" cy="365760"/>
          </a:xfrm>
          <a:prstGeom prst="rect">
            <a:avLst/>
          </a:prstGeom>
          <a:noFill/>
          <a:ln/>
        </p:spPr>
        <p:txBody>
          <a:bodyPr wrap="square" lIns="0" tIns="0" rIns="0" bIns="0" rtlCol="0" anchor="ctr"/>
          <a:lstStyle/>
          <a:p>
            <a:pPr indent="0" marL="0">
              <a:buNone/>
            </a:pPr>
            <a:r>
              <a:rPr lang="en-US" sz="1600" b="1" dirty="0">
                <a:solidFill>
                  <a:srgbClr val="1B2B2B"/>
                </a:solidFill>
                <a:latin typeface="Calibri" pitchFamily="34" charset="0"/>
                <a:ea typeface="Calibri" pitchFamily="34" charset="-122"/>
                <a:cs typeface="Calibri" pitchFamily="34" charset="-120"/>
              </a:rPr>
              <a:t>It's honest about its own limitations</a:t>
            </a:r>
            <a:endParaRPr lang="en-US" sz="1600" dirty="0"/>
          </a:p>
        </p:txBody>
      </p:sp>
      <p:sp>
        <p:nvSpPr>
          <p:cNvPr id="17" name="Text 14"/>
          <p:cNvSpPr/>
          <p:nvPr/>
        </p:nvSpPr>
        <p:spPr>
          <a:xfrm>
            <a:off x="1234440" y="4754880"/>
            <a:ext cx="10058400" cy="685800"/>
          </a:xfrm>
          <a:prstGeom prst="rect">
            <a:avLst/>
          </a:prstGeom>
          <a:noFill/>
          <a:ln/>
        </p:spPr>
        <p:txBody>
          <a:bodyPr wrap="square" lIns="0" tIns="0" rIns="0" bIns="0" rtlCol="0" anchor="ctr"/>
          <a:lstStyle/>
          <a:p>
            <a:pPr indent="0" marL="0">
              <a:lnSpc>
                <a:spcPct val="125000"/>
              </a:lnSpc>
              <a:buNone/>
            </a:pPr>
            <a:r>
              <a:rPr lang="en-US" sz="1350" dirty="0">
                <a:solidFill>
                  <a:srgbClr val="5B6B6B"/>
                </a:solidFill>
                <a:latin typeface="Calibri" pitchFamily="34" charset="0"/>
                <a:ea typeface="Calibri" pitchFamily="34" charset="-122"/>
                <a:cs typeface="Calibri" pitchFamily="34" charset="-120"/>
              </a:rPr>
              <a:t>We're upfront about what's simulated versus production-grade — which matters more to a technical reviewer than pretending everything is bulletproof.</a:t>
            </a:r>
            <a:endParaRPr lang="en-US" sz="1350" dirty="0"/>
          </a:p>
        </p:txBody>
      </p:sp>
      <p:sp>
        <p:nvSpPr>
          <p:cNvPr id="18"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19" name="Text 1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1371600" y="4114800"/>
            <a:ext cx="4114800" cy="4114800"/>
          </a:xfrm>
          <a:prstGeom prst="ellipse">
            <a:avLst/>
          </a:prstGeom>
          <a:solidFill>
            <a:srgbClr val="028090">
              <a:alpha val="55000"/>
            </a:srgbClr>
          </a:solidFill>
          <a:ln/>
        </p:spPr>
      </p:sp>
      <p:sp>
        <p:nvSpPr>
          <p:cNvPr id="3" name="Shape 1"/>
          <p:cNvSpPr/>
          <p:nvPr/>
        </p:nvSpPr>
        <p:spPr>
          <a:xfrm>
            <a:off x="5623560" y="914400"/>
            <a:ext cx="914400" cy="914400"/>
          </a:xfrm>
          <a:prstGeom prst="ellipse">
            <a:avLst/>
          </a:prstGeom>
          <a:solidFill>
            <a:srgbClr val="00A896"/>
          </a:solidFill>
          <a:ln/>
        </p:spPr>
      </p:sp>
      <p:pic>
        <p:nvPicPr>
          <p:cNvPr id="4" name="Image 0" descr="/home/claude/pitch_deck/icons/rocket.png">    </p:cNvPr>
          <p:cNvPicPr>
            <a:picLocks noChangeAspect="1"/>
          </p:cNvPicPr>
          <p:nvPr/>
        </p:nvPicPr>
        <p:blipFill>
          <a:blip r:embed="rId1"/>
          <a:stretch>
            <a:fillRect/>
          </a:stretch>
        </p:blipFill>
        <p:spPr>
          <a:xfrm>
            <a:off x="5733288" y="1024128"/>
            <a:ext cx="694944" cy="694944"/>
          </a:xfrm>
          <a:prstGeom prst="rect">
            <a:avLst/>
          </a:prstGeom>
        </p:spPr>
      </p:pic>
      <p:sp>
        <p:nvSpPr>
          <p:cNvPr id="5" name="Text 2"/>
          <p:cNvSpPr/>
          <p:nvPr/>
        </p:nvSpPr>
        <p:spPr>
          <a:xfrm>
            <a:off x="1097280" y="2286000"/>
            <a:ext cx="9966960" cy="640080"/>
          </a:xfrm>
          <a:prstGeom prst="rect">
            <a:avLst/>
          </a:prstGeom>
          <a:noFill/>
          <a:ln/>
        </p:spPr>
        <p:txBody>
          <a:bodyPr wrap="square" lIns="0" tIns="0" rIns="0" bIns="0" rtlCol="0" anchor="ctr"/>
          <a:lstStyle/>
          <a:p>
            <a:pPr algn="ctr" indent="0" marL="0">
              <a:buNone/>
            </a:pPr>
            <a:r>
              <a:rPr lang="en-US" sz="2200" dirty="0">
                <a:solidFill>
                  <a:srgbClr val="9FC9C2"/>
                </a:solidFill>
                <a:latin typeface="Cambria" pitchFamily="34" charset="0"/>
                <a:ea typeface="Cambria" pitchFamily="34" charset="-122"/>
                <a:cs typeface="Cambria" pitchFamily="34" charset="-120"/>
              </a:rPr>
              <a:t>Databases today either work or get rebuilt.</a:t>
            </a:r>
            <a:endParaRPr lang="en-US" sz="2200" dirty="0"/>
          </a:p>
        </p:txBody>
      </p:sp>
      <p:sp>
        <p:nvSpPr>
          <p:cNvPr id="6" name="Text 3"/>
          <p:cNvSpPr/>
          <p:nvPr/>
        </p:nvSpPr>
        <p:spPr>
          <a:xfrm>
            <a:off x="914400" y="2971800"/>
            <a:ext cx="10332720" cy="2011680"/>
          </a:xfrm>
          <a:prstGeom prst="rect">
            <a:avLst/>
          </a:prstGeom>
          <a:noFill/>
          <a:ln/>
        </p:spPr>
        <p:txBody>
          <a:bodyPr wrap="square" lIns="0" tIns="0" rIns="0" bIns="0" rtlCol="0" anchor="ctr"/>
          <a:lstStyle/>
          <a:p>
            <a:pPr algn="ctr" indent="0" marL="0">
              <a:lnSpc>
                <a:spcPct val="130000"/>
              </a:lnSpc>
              <a:buNone/>
            </a:pPr>
            <a:r>
              <a:rPr lang="en-US" sz="2600" b="1" dirty="0">
                <a:solidFill>
                  <a:srgbClr val="FFFFFF"/>
                </a:solidFill>
                <a:latin typeface="Cambria" pitchFamily="34" charset="0"/>
                <a:ea typeface="Cambria" pitchFamily="34" charset="-122"/>
                <a:cs typeface="Cambria" pitchFamily="34" charset="-120"/>
              </a:rPr>
              <a:t>We're building the middle option: one that notices it's sick, diagnoses itself correctly, treats only the sick part, and confirms it's actually better before telling anyone it's fine.</a:t>
            </a:r>
            <a:endParaRPr lang="en-US" sz="2600" dirty="0"/>
          </a:p>
        </p:txBody>
      </p:sp>
      <p:sp>
        <p:nvSpPr>
          <p:cNvPr id="7" name="Text 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5B6B6B"/>
                </a:solidFill>
                <a:latin typeface="Calibri" pitchFamily="34" charset="0"/>
                <a:ea typeface="Calibri" pitchFamily="34" charset="-122"/>
                <a:cs typeface="Calibri" pitchFamily="34" charset="-120"/>
              </a:rPr>
              <a:t>Self-healing pgvector — the pitch</a:t>
            </a:r>
            <a:endParaRPr lang="en-US" sz="1000" dirty="0"/>
          </a:p>
        </p:txBody>
      </p:sp>
      <p:sp>
        <p:nvSpPr>
          <p:cNvPr id="8" name="Text 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00" dirty="0">
                <a:solidFill>
                  <a:srgbClr val="5B6B6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2026-09-22T04:34:53Z</dcterms:created>
  <dcterms:modified xsi:type="dcterms:W3CDTF">2026-09-22T04:34:53Z</dcterms:modified>
</cp:coreProperties>
</file>